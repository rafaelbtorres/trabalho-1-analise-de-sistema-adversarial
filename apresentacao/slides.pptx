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f47a23ab454403" /><Relationship Type="http://schemas.openxmlformats.org/officeDocument/2006/relationships/extended-properties" Target="/docProps/app.xml" Id="R8e19b3cfc9434bb4" /><Relationship Type="http://schemas.openxmlformats.org/officeDocument/2006/relationships/officeDocument" Target="/ppt/presentation.xml" Id="Rd85962e0415643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3ec6ac782f4df5"/>
  </p:sldMasterIdLst>
  <p:notesMasterIdLst>
    <p:notesMasterId xmlns:r="http://schemas.openxmlformats.org/officeDocument/2006/relationships" r:id="R99577ae4963846ac"/>
  </p:notesMasterIdLst>
  <p:sldIdLst>
    <p:sldId xmlns:r="http://schemas.openxmlformats.org/officeDocument/2006/relationships" id="256" r:id="Rc2c1aa71325e40e9"/>
    <p:sldId xmlns:r="http://schemas.openxmlformats.org/officeDocument/2006/relationships" id="257" r:id="R1c890e9fae5348c6"/>
    <p:sldId xmlns:r="http://schemas.openxmlformats.org/officeDocument/2006/relationships" id="258" r:id="Ra2917d7cb1f24736"/>
    <p:sldId xmlns:r="http://schemas.openxmlformats.org/officeDocument/2006/relationships" id="259" r:id="R56e2dd698e384083"/>
    <p:sldId xmlns:r="http://schemas.openxmlformats.org/officeDocument/2006/relationships" id="260" r:id="R996e373ab01948cd"/>
    <p:sldId xmlns:r="http://schemas.openxmlformats.org/officeDocument/2006/relationships" id="261" r:id="Rd46578a62db14ace"/>
    <p:sldId xmlns:r="http://schemas.openxmlformats.org/officeDocument/2006/relationships" id="262" r:id="R3dfb50a268f54454"/>
    <p:sldId xmlns:r="http://schemas.openxmlformats.org/officeDocument/2006/relationships" id="263" r:id="Rcd0a566337f440c1"/>
    <p:sldId xmlns:r="http://schemas.openxmlformats.org/officeDocument/2006/relationships" id="264" r:id="R193f61e559a340c2"/>
    <p:sldId xmlns:r="http://schemas.openxmlformats.org/officeDocument/2006/relationships" id="265" r:id="R9cd6605bfc62430d"/>
    <p:sldId xmlns:r="http://schemas.openxmlformats.org/officeDocument/2006/relationships" id="266" r:id="R24e3ab122dea45d5"/>
    <p:sldId xmlns:r="http://schemas.openxmlformats.org/officeDocument/2006/relationships" id="267" r:id="R4cd376b3e05142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e4c8b852f748fc" /><Relationship Type="http://schemas.openxmlformats.org/officeDocument/2006/relationships/slideMaster" Target="/ppt/slideMasters/slideMaster1.xml" Id="Rd23ec6ac782f4df5" /><Relationship Type="http://schemas.openxmlformats.org/officeDocument/2006/relationships/notesMaster" Target="/ppt/notesMasters/notesMaster1.xml" Id="R99577ae4963846ac" /><Relationship Type="http://schemas.openxmlformats.org/officeDocument/2006/relationships/presProps" Target="/ppt/presProps.xml" Id="R5926e994327d4745" /><Relationship Type="http://schemas.openxmlformats.org/officeDocument/2006/relationships/tableStyles" Target="/ppt/tableStyles.xml" Id="R2096f2974cfb48c4" /><Relationship Type="http://schemas.openxmlformats.org/officeDocument/2006/relationships/slide" Target="/ppt/slides/slide1.xml" Id="Rc2c1aa71325e40e9" /><Relationship Type="http://schemas.openxmlformats.org/officeDocument/2006/relationships/slide" Target="/ppt/slides/slide2.xml" Id="R1c890e9fae5348c6" /><Relationship Type="http://schemas.openxmlformats.org/officeDocument/2006/relationships/slide" Target="/ppt/slides/slide3.xml" Id="Ra2917d7cb1f24736" /><Relationship Type="http://schemas.openxmlformats.org/officeDocument/2006/relationships/slide" Target="/ppt/slides/slide4.xml" Id="R56e2dd698e384083" /><Relationship Type="http://schemas.openxmlformats.org/officeDocument/2006/relationships/slide" Target="/ppt/slides/slide5.xml" Id="R996e373ab01948cd" /><Relationship Type="http://schemas.openxmlformats.org/officeDocument/2006/relationships/slide" Target="/ppt/slides/slide6.xml" Id="Rd46578a62db14ace" /><Relationship Type="http://schemas.openxmlformats.org/officeDocument/2006/relationships/slide" Target="/ppt/slides/slide7.xml" Id="R3dfb50a268f54454" /><Relationship Type="http://schemas.openxmlformats.org/officeDocument/2006/relationships/slide" Target="/ppt/slides/slide8.xml" Id="Rcd0a566337f440c1" /><Relationship Type="http://schemas.openxmlformats.org/officeDocument/2006/relationships/slide" Target="/ppt/slides/slide9.xml" Id="R193f61e559a340c2" /><Relationship Type="http://schemas.openxmlformats.org/officeDocument/2006/relationships/slide" Target="/ppt/slides/slide10.xml" Id="R9cd6605bfc62430d" /><Relationship Type="http://schemas.openxmlformats.org/officeDocument/2006/relationships/slide" Target="/ppt/slides/slide11.xml" Id="R24e3ab122dea45d5" /><Relationship Type="http://schemas.openxmlformats.org/officeDocument/2006/relationships/slide" Target="/ppt/slides/slide12.xml" Id="R4cd376b3e05142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3e05382c044b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98827a680b4595" /><Relationship Type="http://schemas.openxmlformats.org/officeDocument/2006/relationships/notesMaster" Target="/ppt/notesMasters/notesMaster1.xml" Id="R048a7c0a7acf48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d75a2419834ad4" /><Relationship Type="http://schemas.openxmlformats.org/officeDocument/2006/relationships/notesMaster" Target="/ppt/notesMasters/notesMaster1.xml" Id="Rae528987638345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d73a718c0e4325" /><Relationship Type="http://schemas.openxmlformats.org/officeDocument/2006/relationships/notesMaster" Target="/ppt/notesMasters/notesMaster1.xml" Id="Rcf2cf0aca04346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d15673b2604530" /><Relationship Type="http://schemas.openxmlformats.org/officeDocument/2006/relationships/notesMaster" Target="/ppt/notesMasters/notesMaster1.xml" Id="Rb65f7e86275e45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2964e7249543ee" /><Relationship Type="http://schemas.openxmlformats.org/officeDocument/2006/relationships/notesMaster" Target="/ppt/notesMasters/notesMaster1.xml" Id="R7d235dbc490d49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ed2dc8221e438d" /><Relationship Type="http://schemas.openxmlformats.org/officeDocument/2006/relationships/notesMaster" Target="/ppt/notesMasters/notesMaster1.xml" Id="R1848e758dae747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9598a9279f4e63" /><Relationship Type="http://schemas.openxmlformats.org/officeDocument/2006/relationships/notesMaster" Target="/ppt/notesMasters/notesMaster1.xml" Id="R2e2183ce333348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7f1accd8834d7c" /><Relationship Type="http://schemas.openxmlformats.org/officeDocument/2006/relationships/notesMaster" Target="/ppt/notesMasters/notesMaster1.xml" Id="R6c4c1e6446b34a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ca429625734228" /><Relationship Type="http://schemas.openxmlformats.org/officeDocument/2006/relationships/notesMaster" Target="/ppt/notesMasters/notesMaster1.xml" Id="R0b79028de3bc42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84fd5a8c8f4162" /><Relationship Type="http://schemas.openxmlformats.org/officeDocument/2006/relationships/notesMaster" Target="/ppt/notesMasters/notesMaster1.xml" Id="R1fa0f394077542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6f22a07976480b" /><Relationship Type="http://schemas.openxmlformats.org/officeDocument/2006/relationships/notesMaster" Target="/ppt/notesMasters/notesMaster1.xml" Id="R101c035290cc44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1f5c816d5147f4" /><Relationship Type="http://schemas.openxmlformats.org/officeDocument/2006/relationships/notesMaster" Target="/ppt/notesMasters/notesMaster1.xml" Id="R5b85da37835242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Somos o Grupo 7, formado por Rafael, Elton, Frederico e Diego. Nosso trabalho analisa uma interação de poker entre dois agentes de software. Cada agente busca melhorar seu resultado em fichas e precisa tomar decisões sem conhecer as cartas privadas do adversário. A pergunta que orienta a análise é como as escolhas de um lado produzem informação e mudam a decisão seguinte do outro. Nesta primeira entrega, apresentamos o planejamento, os modelos estratégicos e os riscos. A implementação funcional fica para o Trabalho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Delimitamos uma mão com três etapas: flop, turn e river. A preparação é fornecida como estado inicial, sem analisar decisões anteriores. Cada agente recebe suas cartas e observa as cartas públicas, as apostas, os saldos e o pote. O motor controla a vez e valida as decisões. Permitimos check, aposta, pagamento e desistência, com uma aposta de 10 ou 20 por etapa, estritamente menor que o saldo de cada agente. Excluímos aumentos, all-in e potes paralelos. Depois de duas ações check ou de uma aposta paga, avançamos de etapa; uma desistência encerra a mão. Usamos fichas virtuais num ambiente local. Essas simplificações mantêm a proposta viável para o Trabalho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R1: https://www.pokerstars.com/poker/games/texas-holdem/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agentes A e B têm objetivos conflitantes porque disputam o mesmo pote. Suas decisões são intencionais: podem pagar para obter mais informação, desistir para limitar perdas ou apostar para pressionar o adversário. O motor tem outra responsabilidade: preservar a integridade da mão, aplicar as regras e conservar as fichas. Também precisamos preservar o sigilo das cartas privadas e permitir que a interação avance. O diagrama mostra quais informações circulam entre os agentes e o motor. Nossa proposta depende de três pressupostos: cada agente recebe apenas sua visão autorizada, o motor valida as ações e cada decisão termina dentro de um limite de execução. Se esses pressupostos falharem, surgem os riscos que discutiremos. Isso caracteriza uma situação adversarial porque as decisões procuram influenciar e explorar a reação do outro, além de responder ao acaso das cartas.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matriz analisa retrospectivamente um cenário fixo: pote de 40, aposta de 20 e cartas com as quais B vence na revelação. O analista conhece os resultados; durante a mão, os agentes não conhecem as cartas do outro. A pode apostar ou dar check. B paga ou desiste diante da aposta; após check, ambas as políticas seguem para revelação. Se B paga, A perde 20 adicionais e B ganha 60 a partir desse ponto. Se B desiste, A ganha 40. Com check, A ganha zero e B recebe 40. A tabela converte esses ganhos em preferências. O equilíbrio descreve esse jogo reduzido, sem resolver a incerteza dos agentes durante a mão.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R3: https://ocw.mit.edu/courses/17-810-game-theory-spring-2021/mit17_810s21_lec2.pdf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B paga, A prefere check; se B desiste, A prefere apostar. A não tem estratégia dominante. Para B, pagar é melhor diante da aposta e empata com a outra política diante do check. Assim, pagar domina fracamente: é melhor numa linha e igual na outra. O único equilíbrio puro da tabela é check com a política de pagar. Nenhum jogador melhora mudando sozinho. Check com a política de desistir não é equilíbrio, pois A melhoraria apostando. Esse resultado conserva fichas e usa ações legais. As garantias de sigilo e justiça dependem também dos controles do motor; a matriz sozinha não as comprova.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R3: https://ocw.mit.edu/courses/17-810-game-theory-spring-2021/mit17_810s21_lec2.pdf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Cada agente começa com 100 fichas e o pote contém 20 anteriores. No flop, A aposta 10 e B paga. A observa resistência e passa a dar check para observar. B vê a iniciativa de A e muda sua política: em vez de apostar ao receber check, tenta induzir outra aposta. No turn, ambos dão check. B aceita perder uma oportunidade de ganho; A interpreta esse sinal como fraqueza. No river, A blefa 20 e B paga, vencendo com trinca de ases. Os saldos finais são 70 e 150, conservando 220 fichas. A leitura de A falhou. Essa decisão fora do equilíbrio retrospectivo é possível porque os agentes usam heurísticas e informação parcial. Uma mão não demonstra uma estratégia ótima.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R2: https://www.pokerstars.com/poker/games/rules/hand-rankings/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 três rodadas usam chamadas de observação, decisão e validação. Nessas mesmas interfaces, analisamos três desvios: T1 expõe cartas na visão de estado; T2 aceita uma ação inválida; T3 deixa uma decisão bloquear a execução. São cenários hipotéticos anteriores aos controles, supondo um agente deliberadamente adversarial e a fraqueza indicada. O diagrama liga cada ponto ao ativo afetado. As rodadas apresentadas seguem ações legais; os riscos mostram o que poderia falhar nessas chamadas. Blefar continua permitido. Perder legitimamente é diferente de perder porque o adversário recebeu informação privada ou alterou as regras.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Avaliamos a chance de a tentativa funcionar supondo que a fraqueza descrita existe. A probabilidade qualitativa é três nos três casos: basta ler o campo exposto, enviar uma ação sem a validação correspondente ou não retornar de uma chamada sem limite. O ambiente local não dificulta essas ações. T1 e T2 recebem impacto três porque expõem cartas ou invalidam a contabilização e as regras. T3 recebe dois porque interrompe a mão, sem necessariamente alterar saldos ou revelar dados. Multiplicando probabilidade por impacto, temos nove, nove e seis. T1 e T2 empatam. As notas são avaliações didáticas condicionais, não medições da frequência de ataques nem prova de que essas falhas já existem no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Aprofundamos T1, empatada com T2, porque não é possível fazer o agente esquecer cartas já expostas. Isso não dispensa corrigir T2. Para T1, propomos visões específicas e separação dos registros públicos e internos. Uma reação possível é o agente consultar um campo privado, perceber sua ausência e tentar obtê-lo pelo histórico. O histórico também precisa estar filtrado. Depois, ele pode explorar sinais públicos permitidos ou procurar outro canal de exposição. Essa sequência é uma hipótese de adaptação, não um teste realizado. O controle custa manutenção e pode omitir informação pública por erro, prejudicando agentes legítimos. O risco residual é outro caminho de vazamento; ainda não temos evidência para atribuir uma redução numérica ao risco.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redesenho propõe três controles. Para T1, filtramos visões e históricos. Para T2, validamos vez, ação, saldo e limites antes de atualizar o estado. Para T3, encerramos decisões que excedem um orçamento e aplicamos check quando legal ou fold quando existe aposta pendente. Um adversário pode procurar outra saída de dados ou passar a responder logo antes do limite. A defesa também custa: um erro pode rejeitar uma ação válida, e um agente legítimo lento pode sofrer fold automático. Por isso, precisamos registrar o motivo de cada resposta e verificar seus efeitos. A resiliência consiste em continuar preservando as propriedades da mão diante dessas adaptações; não pressupõe eliminar todo comportamento adversarial.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R5: https://cheatsheetseries.owasp.org/cheatsheets/Input_Validation_Cheat_Sheet.html</a:t>
            </a:r>
          </a:p>
          <a:p xmlns:a="http://schemas.openxmlformats.org/drawingml/2006/main">
            <a:r>
              <a:t>R6: https://cheatsheetseries.owasp.org/cheatsheets/Logging_Cheat_Sheet.html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arquitetura possui motor e estado, provedor de visões, agentes, validador, executor e registro de eventos. O motor prepara a visão autorizada; o agente decide; a ação é validada; então o estado é atualizado. No Trabalho 2, verificaremos execução das três rodadas, conservação das fichas, sigilo e rejeição de ações inválidas. Também verificaremos o encerramento de decisões que excedem o orçamento. Para demonstrar adaptação, o registro interno relacionará observação, política anterior, política atual e ação, sem expor raciocínio privado ao oponente. Assim, poderemos conferir por que B passou a induzir apostas e por que A mudou sua pressão. Esses são critérios planejados, ainda sujeitos à implementação e aos testes.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R5: https://cheatsheetseries.owasp.org/cheatsheets/Input_Validation_Cheat_Sheet.html</a:t>
            </a:r>
          </a:p>
          <a:p xmlns:a="http://schemas.openxmlformats.org/drawingml/2006/main">
            <a:r>
              <a:t>R6: https://cheatsheetseries.owasp.org/cheatsheets/Logging_Cheat_Sheet.html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Depois da resposta, o outro lado aprende com as ações e os limites observáveis. Pode mudar seus blefes, suas decisões de pagar ou o caminho pelo qual procura informação. Apesar disso, o sistema precisa preservar sigilo, fichas e progresso da mão. As fontes que sustentam regras e conceitos ficam no relatório, junto da declaração das tarefas em que usamos IA. Antes de entregar, cada integrante deve conferir contas e conceitos e registrar sua contribuição real. Essa verificação inclui explicar a adaptação dos dois agentes, os limites da matriz e os critérios dos riscos. A análise resultante será a base da implementação no Trabalho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05/10/2026:</a:t>
            </a:r>
          </a:p>
          <a:p xmlns:a="http://schemas.openxmlformats.org/drawingml/2006/main">
            <a:r>
              <a:t>R1: https://www.pokerstars.com/poker/games/texas-holdem/</a:t>
            </a:r>
          </a:p>
          <a:p xmlns:a="http://schemas.openxmlformats.org/drawingml/2006/main">
            <a:r>
              <a:t>R2: https://www.pokerstars.com/poker/games/rules/hand-rankings/</a:t>
            </a:r>
          </a:p>
          <a:p xmlns:a="http://schemas.openxmlformats.org/drawingml/2006/main">
            <a:r>
              <a:t>R3: https://ocw.mit.edu/courses/17-810-game-theory-spring-2021/mit17_810s21_lec2.pdf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R5: https://cheatsheetseries.owasp.org/cheatsheets/Input_Validation_Cheat_Sheet.html</a:t>
            </a:r>
          </a:p>
          <a:p xmlns:a="http://schemas.openxmlformats.org/drawingml/2006/main">
            <a:r>
              <a:t>R6: https://cheatsheetseries.owasp.org/cheatsheets/Logging_Cheat_Sheet.html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82c615f87d48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b555b3b0184d70" /><Relationship Type="http://schemas.openxmlformats.org/officeDocument/2006/relationships/slideLayout" Target="/ppt/slideLayouts/slideLayout1.xml" Id="Rded4f01d8c2244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d4f01d8c2244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2516b36354169" /><Relationship Type="http://schemas.openxmlformats.org/officeDocument/2006/relationships/notesSlide" Target="/ppt/notesSlides/notesSlide1.xml" Id="R20f99ad947894c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42f11f84a4e85" /><Relationship Type="http://schemas.openxmlformats.org/officeDocument/2006/relationships/notesSlide" Target="/ppt/notesSlides/notesSlide2.xml" Id="R79e15375c84b4c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e25a521f747d5" /><Relationship Type="http://schemas.openxmlformats.org/officeDocument/2006/relationships/notesSlide" Target="/ppt/notesSlides/notesSlide3.xml" Id="Rab511c30f99547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82ef951424e99" /><Relationship Type="http://schemas.openxmlformats.org/officeDocument/2006/relationships/notesSlide" Target="/ppt/notesSlides/notesSlide4.xml" Id="Rc0e0edc34a8c4f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264d1a0604f39" /><Relationship Type="http://schemas.openxmlformats.org/officeDocument/2006/relationships/notesSlide" Target="/ppt/notesSlides/notesSlide5.xml" Id="R5f0982a6888548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d4808902b4310" /><Relationship Type="http://schemas.openxmlformats.org/officeDocument/2006/relationships/notesSlide" Target="/ppt/notesSlides/notesSlide6.xml" Id="R1bcadc794be84c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4f68359414eff" /><Relationship Type="http://schemas.openxmlformats.org/officeDocument/2006/relationships/notesSlide" Target="/ppt/notesSlides/notesSlide7.xml" Id="R0c8f62da86ed41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68a499a814b8e" /><Relationship Type="http://schemas.openxmlformats.org/officeDocument/2006/relationships/notesSlide" Target="/ppt/notesSlides/notesSlide8.xml" Id="Ra67dc711945446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c93becfe04d85" /><Relationship Type="http://schemas.openxmlformats.org/officeDocument/2006/relationships/notesSlide" Target="/ppt/notesSlides/notesSlide9.xml" Id="R58e9d5f022f047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ff0b2b9c84be0" /><Relationship Type="http://schemas.openxmlformats.org/officeDocument/2006/relationships/notesSlide" Target="/ppt/notesSlides/notesSlide10.xml" Id="R8e7bc7b8513d46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da36e80244f32" /><Relationship Type="http://schemas.openxmlformats.org/officeDocument/2006/relationships/notesSlide" Target="/ppt/notesSlides/notesSlide11.xml" Id="Raa9e0192ae2842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de40393574415" /><Relationship Type="http://schemas.openxmlformats.org/officeDocument/2006/relationships/notesSlide" Target="/ppt/notesSlides/notesSlide12.xml" Id="Re9f0abb76bbb47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oker Adversarial">
            <a:extLst xmlns:a="http://schemas.openxmlformats.org/drawingml/2006/main">
              <a:ext uri="{FF2B5EF4-FFF2-40B4-BE49-F238E27FC236}">
                <a16:creationId xmlns:a16="http://schemas.microsoft.com/office/drawing/2014/main" id="{0D4A84D0-4D41-4562-A8F9-43DE56C0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Poker Adversarial</a:t>
            </a:r>
          </a:p>
        </p:txBody>
      </p:sp>
      <p:sp>
        <p:nvSpPr>
          <p:cNvPr id="2" name="Grupo 7 · Poker Adversarial · 1/12">
            <a:extLst xmlns:a="http://schemas.openxmlformats.org/drawingml/2006/main">
              <a:ext uri="{FF2B5EF4-FFF2-40B4-BE49-F238E27FC236}">
                <a16:creationId xmlns:a16="http://schemas.microsoft.com/office/drawing/2014/main" id="{D462E0DE-1743-4D0C-8CDD-760E570F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1/12</a:t>
            </a:r>
          </a:p>
        </p:txBody>
      </p:sp>
      <p:sp>
        <p:nvSpPr>
          <p:cNvPr id="3" name="Dois agentes decidem com informação parcial">
            <a:extLst xmlns:a="http://schemas.openxmlformats.org/drawingml/2006/main">
              <a:ext uri="{FF2B5EF4-FFF2-40B4-BE49-F238E27FC236}">
                <a16:creationId xmlns:a16="http://schemas.microsoft.com/office/drawing/2014/main" id="{D1503122-5936-4D7D-AB4A-1C16697D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Dois agentes decidem com informação parcial</a:t>
            </a:r>
          </a:p>
        </p:txBody>
      </p:sp>
      <p:sp>
        <p:nvSpPr>
          <p:cNvPr id="4" name="Trabalho 1 · Engenharia de Software Adversarial">
            <a:extLst xmlns:a="http://schemas.openxmlformats.org/drawingml/2006/main">
              <a:ext uri="{FF2B5EF4-FFF2-40B4-BE49-F238E27FC236}">
                <a16:creationId xmlns:a16="http://schemas.microsoft.com/office/drawing/2014/main" id="{294A5FF2-6D4A-44B9-AE87-ED9E681E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Trabalho 1 · Engenharia de Software Adversarial</a:t>
            </a:r>
          </a:p>
        </p:txBody>
      </p:sp>
      <p:sp>
        <p:nvSpPr>
          <p:cNvPr id="5" name="Rafael Barboza Torres&#10;Elton Henrique Lunardi Gimenes&#10;Frederico Ma">
            <a:extLst xmlns:a="http://schemas.openxmlformats.org/drawingml/2006/main">
              <a:ext uri="{FF2B5EF4-FFF2-40B4-BE49-F238E27FC236}">
                <a16:creationId xmlns:a16="http://schemas.microsoft.com/office/drawing/2014/main" id="{0917A25B-E34D-4CE7-BAFE-423761D5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Rafael Barboza Torres</a:t>
            </a:r>
          </a:p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Elton Henrique Lunardi Gimenes</a:t>
            </a:r>
          </a:p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Frederico Marques da Silva Barcelos</a:t>
            </a:r>
          </a:p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Diego Santos de Araujo</a:t>
            </a:r>
          </a:p>
        </p:txBody>
      </p:sp>
    </p:spTree>
    <p:extLst>
      <p:ext uri="{BB962C8B-B14F-4D97-AF65-F5344CB8AC3E}">
        <p14:creationId xmlns:p14="http://schemas.microsoft.com/office/powerpoint/2010/main" val="6610409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orte e regras">
            <a:extLst xmlns:a="http://schemas.openxmlformats.org/drawingml/2006/main">
              <a:ext uri="{FF2B5EF4-FFF2-40B4-BE49-F238E27FC236}">
                <a16:creationId xmlns:a16="http://schemas.microsoft.com/office/drawing/2014/main" id="{B4EFD324-E050-4CE1-AB50-B154E0BB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Recorte e regras</a:t>
            </a:r>
          </a:p>
        </p:txBody>
      </p:sp>
      <p:sp>
        <p:nvSpPr>
          <p:cNvPr id="2" name="Grupo 7 · Poker Adversarial · 2/12">
            <a:extLst xmlns:a="http://schemas.openxmlformats.org/drawingml/2006/main">
              <a:ext uri="{FF2B5EF4-FFF2-40B4-BE49-F238E27FC236}">
                <a16:creationId xmlns:a16="http://schemas.microsoft.com/office/drawing/2014/main" id="{44990B41-A348-495F-BE6F-A9890D7B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2/12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11049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7239000"/>
              </a:tblGrid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Interação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Regra do protótipo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Uma mão, dois agentes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Flop, turn e river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Check, bet, call e fold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Apostas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10 ou 20, sem all-in ou aumentos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Encerramento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Fold ou revelação após o river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Estado inicial sintético · fichas virtuais · execução local">
            <a:extLst xmlns:a="http://schemas.openxmlformats.org/drawingml/2006/main">
              <a:ext uri="{FF2B5EF4-FFF2-40B4-BE49-F238E27FC236}">
                <a16:creationId xmlns:a16="http://schemas.microsoft.com/office/drawing/2014/main" id="{D13F91AD-C0F9-4415-920E-6BAE7DB6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53075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Estado inicial sintético · fichas virtuais · execução local</a:t>
            </a:r>
          </a:p>
        </p:txBody>
      </p:sp>
      <p:sp>
        <p:nvSpPr>
          <p:cNvPr id="5" name="Regras de cartas: PokerStars. Limites de apostas: simplificação p">
            <a:extLst xmlns:a="http://schemas.openxmlformats.org/drawingml/2006/main">
              <a:ext uri="{FF2B5EF4-FFF2-40B4-BE49-F238E27FC236}">
                <a16:creationId xmlns:a16="http://schemas.microsoft.com/office/drawing/2014/main" id="{5F261BB2-EEE7-408A-B9CC-EBB3D220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Regras de cartas: PokerStars. Limites de apostas: simplificação própria.</a:t>
            </a:r>
          </a:p>
        </p:txBody>
      </p:sp>
    </p:spTree>
    <p:extLst>
      <p:ext uri="{BB962C8B-B14F-4D97-AF65-F5344CB8AC3E}">
        <p14:creationId xmlns:p14="http://schemas.microsoft.com/office/powerpoint/2010/main" val="1841826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tores e propriedades preservadas">
            <a:extLst xmlns:a="http://schemas.openxmlformats.org/drawingml/2006/main">
              <a:ext uri="{FF2B5EF4-FFF2-40B4-BE49-F238E27FC236}">
                <a16:creationId xmlns:a16="http://schemas.microsoft.com/office/drawing/2014/main" id="{D8342799-0DFF-442C-8335-08F8C10A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Atores e propriedades preservadas</a:t>
            </a:r>
          </a:p>
        </p:txBody>
      </p:sp>
      <p:sp>
        <p:nvSpPr>
          <p:cNvPr id="2" name="Grupo 7 · Poker Adversarial · 3/12">
            <a:extLst xmlns:a="http://schemas.openxmlformats.org/drawingml/2006/main">
              <a:ext uri="{FF2B5EF4-FFF2-40B4-BE49-F238E27FC236}">
                <a16:creationId xmlns:a16="http://schemas.microsoft.com/office/drawing/2014/main" id="{B2BC67EA-571E-4301-9D46-35B4A760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3/12</a:t>
            </a:r>
          </a:p>
        </p:txBody>
      </p:sp>
      <p:sp>
        <p:nvSpPr>
          <p:cNvPr id="3" name="Ações chegam ao motor. Visões filtradas retornam aos agentes.">
            <a:extLst xmlns:a="http://schemas.openxmlformats.org/drawingml/2006/main">
              <a:ext uri="{FF2B5EF4-FFF2-40B4-BE49-F238E27FC236}">
                <a16:creationId xmlns:a16="http://schemas.microsoft.com/office/drawing/2014/main" id="{3F275AB8-8D9E-473F-9233-37B9B5D5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Ações chegam ao motor. Visões filtradas retornam aos agentes.</a:t>
            </a:r>
          </a:p>
        </p:txBody>
      </p:sp>
      <p:sp>
        <p:nvSpPr>
          <p:cNvPr id="4" name="Agente A Ganhar fichas">
            <a:extLst xmlns:a="http://schemas.openxmlformats.org/drawingml/2006/main">
              <a:ext uri="{FF2B5EF4-FFF2-40B4-BE49-F238E27FC236}">
                <a16:creationId xmlns:a16="http://schemas.microsoft.com/office/drawing/2014/main" id="{F1C72AA0-847A-459A-888C-6DC9B7E7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A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Ganhar fichas</a:t>
            </a:r>
          </a:p>
        </p:txBody>
      </p:sp>
      <p:sp>
        <p:nvSpPr>
          <p:cNvPr id="5" name="Agente B Ganhar fichas">
            <a:extLst xmlns:a="http://schemas.openxmlformats.org/drawingml/2006/main">
              <a:ext uri="{FF2B5EF4-FFF2-40B4-BE49-F238E27FC236}">
                <a16:creationId xmlns:a16="http://schemas.microsoft.com/office/drawing/2014/main" id="{57CBD046-BD96-4EDB-8C8F-D6FAA11B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28875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B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Ganhar fichas</a:t>
            </a:r>
          </a:p>
        </p:txBody>
      </p:sp>
      <p:sp>
        <p:nvSpPr>
          <p:cNvPr id="6" name="Motor da mão Valida e contabiliza Fornece visões filtradas">
            <a:extLst xmlns:a="http://schemas.openxmlformats.org/drawingml/2006/main">
              <a:ext uri="{FF2B5EF4-FFF2-40B4-BE49-F238E27FC236}">
                <a16:creationId xmlns:a16="http://schemas.microsoft.com/office/drawing/2014/main" id="{B666DED8-B4AA-4DAA-99A2-D3DB2E9E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Motor da mão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Valida e contabiliza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Fornece visões filtradas</a:t>
            </a:r>
          </a:p>
        </p:txBody>
      </p:sp>
      <p:sp>
        <p:nvSpPr>
          <p:cNvPr id="7" name="Registro interno Auditoria após a mão">
            <a:extLst xmlns:a="http://schemas.openxmlformats.org/drawingml/2006/main">
              <a:ext uri="{FF2B5EF4-FFF2-40B4-BE49-F238E27FC236}">
                <a16:creationId xmlns:a16="http://schemas.microsoft.com/office/drawing/2014/main" id="{313B94A1-010B-484C-BC98-7336B823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67250"/>
            <a:ext cx="3048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Registro interno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Auditoria após a mão</a:t>
            </a:r>
          </a:p>
        </p:txBody>
      </p:sp>
      <p:sp>
        <p:nvSpPr>
          <p:cNvPr id="8" name="Operador do grupo Analisa cenário">
            <a:extLst xmlns:a="http://schemas.openxmlformats.org/drawingml/2006/main">
              <a:ext uri="{FF2B5EF4-FFF2-40B4-BE49-F238E27FC236}">
                <a16:creationId xmlns:a16="http://schemas.microsoft.com/office/drawing/2014/main" id="{51BB1F35-2726-4270-A4BD-6C3A370E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67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6274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Operador do grupo</a:t>
            </a:r>
          </a:p>
          <a:p xmlns:a="http://schemas.openxmlformats.org/drawingml/2006/main">
            <a:pPr algn="ctr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Analisa cenário</a:t>
            </a:r>
          </a:p>
        </p:txBody>
      </p:sp>
      <p:sp>
        <p:nvSpPr>
          <p:cNvPr id="9" name="Preservar integridade, sigilo e progresso">
            <a:extLst xmlns:a="http://schemas.openxmlformats.org/drawingml/2006/main">
              <a:ext uri="{FF2B5EF4-FFF2-40B4-BE49-F238E27FC236}">
                <a16:creationId xmlns:a16="http://schemas.microsoft.com/office/drawing/2014/main" id="{CEEF9496-418D-4E2E-86BA-A724A3BB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Preservar integridade,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sigilo e progresso</a:t>
            </a:r>
          </a:p>
        </p:txBody>
      </p:sp>
      <p:cxnSp>
        <p:nvCxnSpPr>
          <p:cNvPr id="24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429000" y="3000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5" idx="1"/>
            <a:endCxn xmlns:a="http://schemas.openxmlformats.org/drawingml/2006/main" id="6" idx="3"/>
          </p:cNvCxnSpPr>
          <p:nvPr/>
        </p:nvCxnSpPr>
        <p:spPr>
          <a:xfrm xmlns:a="http://schemas.openxmlformats.org/drawingml/2006/main" flipH="1">
            <a:off x="7620000" y="3000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37147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20000" y="5143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2000250" y="3714750"/>
            <a:ext cx="4095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4620502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ecisão estática no river">
            <a:extLst xmlns:a="http://schemas.openxmlformats.org/drawingml/2006/main">
              <a:ext uri="{FF2B5EF4-FFF2-40B4-BE49-F238E27FC236}">
                <a16:creationId xmlns:a16="http://schemas.microsoft.com/office/drawing/2014/main" id="{1449164D-4A11-4942-90A2-AACE10B4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Decisão estática no river</a:t>
            </a:r>
          </a:p>
        </p:txBody>
      </p:sp>
      <p:sp>
        <p:nvSpPr>
          <p:cNvPr id="2" name="Grupo 7 · Poker Adversarial · 4/12">
            <a:extLst xmlns:a="http://schemas.openxmlformats.org/drawingml/2006/main">
              <a:ext uri="{FF2B5EF4-FFF2-40B4-BE49-F238E27FC236}">
                <a16:creationId xmlns:a16="http://schemas.microsoft.com/office/drawing/2014/main" id="{1569B30F-5BFA-4F5B-A93E-6EBE3349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4/12</a:t>
            </a:r>
          </a:p>
        </p:txBody>
      </p:sp>
      <p:sp>
        <p:nvSpPr>
          <p:cNvPr id="3" name="Pote 40 · aposta 20 · B vence na revelação do cenário fixo">
            <a:extLst xmlns:a="http://schemas.openxmlformats.org/drawingml/2006/main">
              <a:ext uri="{FF2B5EF4-FFF2-40B4-BE49-F238E27FC236}">
                <a16:creationId xmlns:a16="http://schemas.microsoft.com/office/drawing/2014/main" id="{F817EF28-5689-4AAC-86D1-C2AB17A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Pote 40 · aposta 20 · B vence na revelação do cenário fixo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2076450"/>
          <a:ext xmlns:a="http://schemas.openxmlformats.org/drawingml/2006/main" cx="11049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43250"/>
                <a:gridCol w="3143250"/>
              </a:tblGrid>
              <a:tr h="8255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 / política de B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B1: pagar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B2: desistir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8255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A1: apostar 20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(0, 3)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(3, 0)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A2: check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(1, 2)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(1, 2)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Pares = preferência de A e B. Maior valor = resultado preferido.">
            <a:extLst xmlns:a="http://schemas.openxmlformats.org/drawingml/2006/main">
              <a:ext uri="{FF2B5EF4-FFF2-40B4-BE49-F238E27FC236}">
                <a16:creationId xmlns:a16="http://schemas.microsoft.com/office/drawing/2014/main" id="{A1266FDF-D081-4E3C-ABA0-846170D7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Pares = preferência de A e B. Maior valor = resultado preferido.</a:t>
            </a:r>
          </a:p>
        </p:txBody>
      </p:sp>
      <p:sp>
        <p:nvSpPr>
          <p:cNvPr id="6" name="Call: A perde 20 e B ganha 60. Fold: A ganha 40.">
            <a:extLst xmlns:a="http://schemas.openxmlformats.org/drawingml/2006/main">
              <a:ext uri="{FF2B5EF4-FFF2-40B4-BE49-F238E27FC236}">
                <a16:creationId xmlns:a16="http://schemas.microsoft.com/office/drawing/2014/main" id="{F51A84E5-D15E-4AE3-AE93-C1E972C4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Call: A perde 20 e B ganha 60. Fold: A ganha 40.</a:t>
            </a:r>
          </a:p>
        </p:txBody>
      </p:sp>
      <p:sp>
        <p:nvSpPr>
          <p:cNvPr id="7" name="Análise retrospectiva com cartas fixadas pelo analista. Os agente">
            <a:extLst xmlns:a="http://schemas.openxmlformats.org/drawingml/2006/main">
              <a:ext uri="{FF2B5EF4-FFF2-40B4-BE49-F238E27FC236}">
                <a16:creationId xmlns:a16="http://schemas.microsoft.com/office/drawing/2014/main" id="{99072B67-7F7B-4619-8751-FA007A26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15025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Análise retrospectiva com cartas fixadas pelo analista. Os agentes continuam com informação parcial.</a:t>
            </a:r>
          </a:p>
        </p:txBody>
      </p:sp>
    </p:spTree>
    <p:extLst>
      <p:ext uri="{BB962C8B-B14F-4D97-AF65-F5344CB8AC3E}">
        <p14:creationId xmlns:p14="http://schemas.microsoft.com/office/powerpoint/2010/main" val="666300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elhores respostas e equilíbrio">
            <a:extLst xmlns:a="http://schemas.openxmlformats.org/drawingml/2006/main">
              <a:ext uri="{FF2B5EF4-FFF2-40B4-BE49-F238E27FC236}">
                <a16:creationId xmlns:a16="http://schemas.microsoft.com/office/drawing/2014/main" id="{532B66D7-9A5F-48B2-B3B4-C9860895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Melhores respostas e equilíbrio</a:t>
            </a:r>
          </a:p>
        </p:txBody>
      </p:sp>
      <p:sp>
        <p:nvSpPr>
          <p:cNvPr id="2" name="Grupo 7 · Poker Adversarial · 5/12">
            <a:extLst xmlns:a="http://schemas.openxmlformats.org/drawingml/2006/main">
              <a:ext uri="{FF2B5EF4-FFF2-40B4-BE49-F238E27FC236}">
                <a16:creationId xmlns:a16="http://schemas.microsoft.com/office/drawing/2014/main" id="{354F15B6-9137-4CAA-AD4D-CE515DC5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5/12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66675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952750"/>
              </a:tblGrid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Escolha fixada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Melhor resposta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B1: pagar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A2: check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B2: desistir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A1: apostar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A1: apostar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B1: pagar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A2: check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B1 ou B2, empate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A: sem dominante">
            <a:extLst xmlns:a="http://schemas.openxmlformats.org/drawingml/2006/main">
              <a:ext uri="{FF2B5EF4-FFF2-40B4-BE49-F238E27FC236}">
                <a16:creationId xmlns:a16="http://schemas.microsoft.com/office/drawing/2014/main" id="{CF9BD9BF-273A-415C-A40B-4FBADDE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716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A: sem dominante</a:t>
            </a:r>
          </a:p>
        </p:txBody>
      </p:sp>
      <p:sp>
        <p:nvSpPr>
          <p:cNvPr id="5" name="B1 domina fracamente">
            <a:extLst xmlns:a="http://schemas.openxmlformats.org/drawingml/2006/main">
              <a:ext uri="{FF2B5EF4-FFF2-40B4-BE49-F238E27FC236}">
                <a16:creationId xmlns:a16="http://schemas.microsoft.com/office/drawing/2014/main" id="{576F2773-FEE7-4C1C-9A21-E7B3EBD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571750"/>
            <a:ext cx="3714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B1 domina fracamente</a:t>
            </a:r>
          </a:p>
        </p:txBody>
      </p:sp>
      <p:sp>
        <p:nvSpPr>
          <p:cNvPr id="6" name="Equilíbrio puro&#10;(A2, B1)">
            <a:extLst xmlns:a="http://schemas.openxmlformats.org/drawingml/2006/main">
              <a:ext uri="{FF2B5EF4-FFF2-40B4-BE49-F238E27FC236}">
                <a16:creationId xmlns:a16="http://schemas.microsoft.com/office/drawing/2014/main" id="{86ADEC73-492C-4F4F-B5C7-394321A1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005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Equilíbrio puro</a:t>
            </a:r>
          </a:p>
          <a:p xmlns:a="http://schemas.openxmlformats.org/drawingml/2006/main">
            <a:pPr algn="l">
              <a:defRPr sz="28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(A2, B1)</a:t>
            </a:r>
          </a:p>
        </p:txBody>
      </p:sp>
      <p:sp>
        <p:nvSpPr>
          <p:cNvPr id="7" name="Equilíbrio da tabela retrospectiva. Sigilo e justiça dependem tam">
            <a:extLst xmlns:a="http://schemas.openxmlformats.org/drawingml/2006/main">
              <a:ext uri="{FF2B5EF4-FFF2-40B4-BE49-F238E27FC236}">
                <a16:creationId xmlns:a16="http://schemas.microsoft.com/office/drawing/2014/main" id="{BDAD1AF0-F95D-48BA-A2DF-533C4017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Equilíbrio da tabela retrospectiva. Sigilo e justiça dependem também dos controles.</a:t>
            </a:r>
          </a:p>
        </p:txBody>
      </p:sp>
    </p:spTree>
    <p:extLst>
      <p:ext uri="{BB962C8B-B14F-4D97-AF65-F5344CB8AC3E}">
        <p14:creationId xmlns:p14="http://schemas.microsoft.com/office/powerpoint/2010/main" val="4380363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rês rodadas e mudança de política">
            <a:extLst xmlns:a="http://schemas.openxmlformats.org/drawingml/2006/main">
              <a:ext uri="{FF2B5EF4-FFF2-40B4-BE49-F238E27FC236}">
                <a16:creationId xmlns:a16="http://schemas.microsoft.com/office/drawing/2014/main" id="{4BF04084-1BD7-4D54-9E4A-795D4B91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Três rodadas e mudança de política</a:t>
            </a:r>
          </a:p>
        </p:txBody>
      </p:sp>
      <p:sp>
        <p:nvSpPr>
          <p:cNvPr id="2" name="Grupo 7 · Poker Adversarial · 6/12">
            <a:extLst xmlns:a="http://schemas.openxmlformats.org/drawingml/2006/main">
              <a:ext uri="{FF2B5EF4-FFF2-40B4-BE49-F238E27FC236}">
                <a16:creationId xmlns:a16="http://schemas.microsoft.com/office/drawing/2014/main" id="{69B09375-09B5-4DAB-B162-B4E99510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6/12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71500" y="1409700"/>
          <a:ext xmlns:a="http://schemas.openxmlformats.org/drawingml/2006/main" cx="11049000" cy="2800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3714750"/>
                <a:gridCol w="5715000"/>
              </a:tblGrid>
              <a:tr h="70008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Etapa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Ação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Mudança observada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0008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Flop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bet 10 / B call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recua e B prepara indução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0008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Turn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Check / check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 induz e A interpreta fraqueza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0008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River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bet 20 / B call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Leitura de A falha na revelação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tas de A: 7♣ 2♦     Cartas de B: A♥ A♦">
            <a:extLst xmlns:a="http://schemas.openxmlformats.org/drawingml/2006/main">
              <a:ext uri="{FF2B5EF4-FFF2-40B4-BE49-F238E27FC236}">
                <a16:creationId xmlns:a16="http://schemas.microsoft.com/office/drawing/2014/main" id="{292AF591-02F8-4F60-91AF-8E5AAD67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Cartas de A: 7♣ 2♦     Cartas de B: A♥ A♦</a:t>
            </a:r>
          </a:p>
        </p:txBody>
      </p:sp>
      <p:sp>
        <p:nvSpPr>
          <p:cNvPr id="5" name="Mesa: A♠ 9♥ 4♣ K♣ 3♦     B vence com trinca de ases">
            <a:extLst xmlns:a="http://schemas.openxmlformats.org/drawingml/2006/main">
              <a:ext uri="{FF2B5EF4-FFF2-40B4-BE49-F238E27FC236}">
                <a16:creationId xmlns:a16="http://schemas.microsoft.com/office/drawing/2014/main" id="{85047ECE-EC77-4D26-9845-21D2E112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Mesa: A♠ 9♥ 4♣ K♣ 3♦     B vence com trinca de ases</a:t>
            </a:r>
          </a:p>
        </p:txBody>
      </p:sp>
      <p:sp>
        <p:nvSpPr>
          <p:cNvPr id="6" name="Saldos finais: A 70, B 150. Total conservado: 220 fichas.">
            <a:extLst xmlns:a="http://schemas.openxmlformats.org/drawingml/2006/main">
              <a:ext uri="{FF2B5EF4-FFF2-40B4-BE49-F238E27FC236}">
                <a16:creationId xmlns:a16="http://schemas.microsoft.com/office/drawing/2014/main" id="{6AB36281-1350-4810-BB1E-AAA332D7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864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Saldos finais: A 70, B 150. Total conservado: 220 fichas.</a:t>
            </a:r>
          </a:p>
        </p:txBody>
      </p:sp>
      <p:sp>
        <p:nvSpPr>
          <p:cNvPr id="7" name="Cenário manual. B abre mão de apostar para induzir nova pressão d">
            <a:extLst xmlns:a="http://schemas.openxmlformats.org/drawingml/2006/main">
              <a:ext uri="{FF2B5EF4-FFF2-40B4-BE49-F238E27FC236}">
                <a16:creationId xmlns:a16="http://schemas.microsoft.com/office/drawing/2014/main" id="{D7C73915-E059-46F9-A4A4-F5C54BB6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Cenário manual. B abre mão de apostar para induzir nova pressão de A.</a:t>
            </a:r>
          </a:p>
        </p:txBody>
      </p:sp>
    </p:spTree>
    <p:extLst>
      <p:ext uri="{BB962C8B-B14F-4D97-AF65-F5344CB8AC3E}">
        <p14:creationId xmlns:p14="http://schemas.microsoft.com/office/powerpoint/2010/main" val="4613046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uperfície de ataque">
            <a:extLst xmlns:a="http://schemas.openxmlformats.org/drawingml/2006/main">
              <a:ext uri="{FF2B5EF4-FFF2-40B4-BE49-F238E27FC236}">
                <a16:creationId xmlns:a16="http://schemas.microsoft.com/office/drawing/2014/main" id="{49E78FF9-54AC-4278-90F9-49BB111A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Superfície de ataque</a:t>
            </a:r>
          </a:p>
        </p:txBody>
      </p:sp>
      <p:sp>
        <p:nvSpPr>
          <p:cNvPr id="2" name="Grupo 7 · Poker Adversarial · 7/12">
            <a:extLst xmlns:a="http://schemas.openxmlformats.org/drawingml/2006/main">
              <a:ext uri="{FF2B5EF4-FFF2-40B4-BE49-F238E27FC236}">
                <a16:creationId xmlns:a16="http://schemas.microsoft.com/office/drawing/2014/main" id="{B3904A06-FDDD-4E86-8BAC-3A10DEC6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7/12</a:t>
            </a:r>
          </a:p>
        </p:txBody>
      </p:sp>
      <p:sp>
        <p:nvSpPr>
          <p:cNvPr id="3" name="Módulo adversarial">
            <a:extLst xmlns:a="http://schemas.openxmlformats.org/drawingml/2006/main">
              <a:ext uri="{FF2B5EF4-FFF2-40B4-BE49-F238E27FC236}">
                <a16:creationId xmlns:a16="http://schemas.microsoft.com/office/drawing/2014/main" id="{73F97ECC-50F4-47E5-B850-90DAF53F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2524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Módulo adversarial</a:t>
            </a:r>
          </a:p>
        </p:txBody>
      </p:sp>
      <p:sp>
        <p:nvSpPr>
          <p:cNvPr id="4" name="T1: visão e histórico Campo privado sem filtro Falha de P1">
            <a:extLst xmlns:a="http://schemas.openxmlformats.org/drawingml/2006/main">
              <a:ext uri="{FF2B5EF4-FFF2-40B4-BE49-F238E27FC236}">
                <a16:creationId xmlns:a16="http://schemas.microsoft.com/office/drawing/2014/main" id="{D9034AAE-61EE-4E0B-8047-E7415F89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7637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T1: visão e histórico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Campo privado sem filtro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P1</a:t>
            </a:r>
          </a:p>
        </p:txBody>
      </p:sp>
      <p:sp>
        <p:nvSpPr>
          <p:cNvPr id="5" name="T2: entrada de ações Valor ou vez sem validação Falha de P2">
            <a:extLst xmlns:a="http://schemas.openxmlformats.org/drawingml/2006/main">
              <a:ext uri="{FF2B5EF4-FFF2-40B4-BE49-F238E27FC236}">
                <a16:creationId xmlns:a16="http://schemas.microsoft.com/office/drawing/2014/main" id="{7C39047A-EB3E-4AF1-8391-3EC8095F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9562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T2: entrada de ações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Valor ou vez sem validação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P2</a:t>
            </a:r>
          </a:p>
        </p:txBody>
      </p:sp>
      <p:sp>
        <p:nvSpPr>
          <p:cNvPr id="6" name="T3: executor Decisão sem limite Falha de P3">
            <a:extLst xmlns:a="http://schemas.openxmlformats.org/drawingml/2006/main">
              <a:ext uri="{FF2B5EF4-FFF2-40B4-BE49-F238E27FC236}">
                <a16:creationId xmlns:a16="http://schemas.microsoft.com/office/drawing/2014/main" id="{6B29F13D-4C75-47A9-A5CA-497B805D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1487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T3: executor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Decisão sem limite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P3</a:t>
            </a:r>
          </a:p>
        </p:txBody>
      </p:sp>
      <p:sp>
        <p:nvSpPr>
          <p:cNvPr id="7" name="Sigilo e justiça Risco 9">
            <a:extLst xmlns:a="http://schemas.openxmlformats.org/drawingml/2006/main">
              <a:ext uri="{FF2B5EF4-FFF2-40B4-BE49-F238E27FC236}">
                <a16:creationId xmlns:a16="http://schemas.microsoft.com/office/drawing/2014/main" id="{DA63B170-7828-486D-8F9B-829A22D7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Sigilo e justiça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9</a:t>
            </a:r>
          </a:p>
        </p:txBody>
      </p:sp>
      <p:sp>
        <p:nvSpPr>
          <p:cNvPr id="8" name="Integridade e fichas Risco 9">
            <a:extLst xmlns:a="http://schemas.openxmlformats.org/drawingml/2006/main">
              <a:ext uri="{FF2B5EF4-FFF2-40B4-BE49-F238E27FC236}">
                <a16:creationId xmlns:a16="http://schemas.microsoft.com/office/drawing/2014/main" id="{B1341F29-CFD2-434A-89D9-C6EF3F62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28612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Integridade e fichas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9</a:t>
            </a:r>
          </a:p>
        </p:txBody>
      </p:sp>
      <p:sp>
        <p:nvSpPr>
          <p:cNvPr id="9" name="Progresso Risco 6">
            <a:extLst xmlns:a="http://schemas.openxmlformats.org/drawingml/2006/main">
              <a:ext uri="{FF2B5EF4-FFF2-40B4-BE49-F238E27FC236}">
                <a16:creationId xmlns:a16="http://schemas.microsoft.com/office/drawing/2014/main" id="{2837C4F7-B5D8-47BB-BEF3-0E75DFA0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0537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Progresso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6</a:t>
            </a:r>
          </a:p>
        </p:txBody>
      </p:sp>
      <p:cxnSp>
        <p:nvCxnSpPr>
          <p:cNvPr id="2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3095625" y="2000250"/>
            <a:ext cx="1285875" cy="1438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95625" y="3438525"/>
            <a:ext cx="1285875" cy="180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95625" y="3438525"/>
            <a:ext cx="1285875" cy="1800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10500" y="20002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10500" y="361950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810500" y="52387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6" name="C1: filtrar saídas">
            <a:extLst xmlns:a="http://schemas.openxmlformats.org/drawingml/2006/main">
              <a:ext uri="{FF2B5EF4-FFF2-40B4-BE49-F238E27FC236}">
                <a16:creationId xmlns:a16="http://schemas.microsoft.com/office/drawing/2014/main" id="{21F680B0-1C72-43E6-8CD0-C5E4BB35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C1: filtrar saídas</a:t>
            </a:r>
          </a:p>
        </p:txBody>
      </p:sp>
      <p:sp>
        <p:nvSpPr>
          <p:cNvPr id="17" name="C2/C3: validar, aplicar uma vez">
            <a:extLst xmlns:a="http://schemas.openxmlformats.org/drawingml/2006/main">
              <a:ext uri="{FF2B5EF4-FFF2-40B4-BE49-F238E27FC236}">
                <a16:creationId xmlns:a16="http://schemas.microsoft.com/office/drawing/2014/main" id="{6B7148EA-562A-4A16-A9E2-5346B43F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481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C2/C3: validar, aplicar uma vez</a:t>
            </a:r>
          </a:p>
        </p:txBody>
      </p:sp>
      <p:sp>
        <p:nvSpPr>
          <p:cNvPr id="18" name="C4: orçamento e ação padrão">
            <a:extLst xmlns:a="http://schemas.openxmlformats.org/drawingml/2006/main">
              <a:ext uri="{FF2B5EF4-FFF2-40B4-BE49-F238E27FC236}">
                <a16:creationId xmlns:a16="http://schemas.microsoft.com/office/drawing/2014/main" id="{A9322526-7F74-4D2E-9B60-3AA2D62C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67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C4: orçamento e ação padrão</a:t>
            </a:r>
          </a:p>
        </p:txBody>
      </p:sp>
    </p:spTree>
    <p:extLst>
      <p:ext uri="{BB962C8B-B14F-4D97-AF65-F5344CB8AC3E}">
        <p14:creationId xmlns:p14="http://schemas.microsoft.com/office/powerpoint/2010/main" val="12893817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enários e avaliação dos riscos">
            <a:extLst xmlns:a="http://schemas.openxmlformats.org/drawingml/2006/main">
              <a:ext uri="{FF2B5EF4-FFF2-40B4-BE49-F238E27FC236}">
                <a16:creationId xmlns:a16="http://schemas.microsoft.com/office/drawing/2014/main" id="{B4A4D1F5-3091-40D9-B246-ADC2EEF6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Cenários e avaliação dos riscos</a:t>
            </a:r>
          </a:p>
        </p:txBody>
      </p:sp>
      <p:sp>
        <p:nvSpPr>
          <p:cNvPr id="2" name="Grupo 7 · Poker Adversarial · 8/12">
            <a:extLst xmlns:a="http://schemas.openxmlformats.org/drawingml/2006/main">
              <a:ext uri="{FF2B5EF4-FFF2-40B4-BE49-F238E27FC236}">
                <a16:creationId xmlns:a16="http://schemas.microsoft.com/office/drawing/2014/main" id="{B9B4D3CE-6F8F-4D69-87DD-0952879E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8/12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028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00125"/>
                <a:gridCol w="6191250"/>
                <a:gridCol w="952500"/>
                <a:gridCol w="952500"/>
                <a:gridCol w="1952625"/>
              </a:tblGrid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Cenário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Risco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T1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Cartas privadas expostas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T2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Ação ilegal altera estado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Decisão bloqueia a mão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 = sucesso da tentativa, supondo a fraqueza presente">
            <a:extLst xmlns:a="http://schemas.openxmlformats.org/drawingml/2006/main">
              <a:ext uri="{FF2B5EF4-FFF2-40B4-BE49-F238E27FC236}">
                <a16:creationId xmlns:a16="http://schemas.microsoft.com/office/drawing/2014/main" id="{59748950-2F36-4B80-BE3B-09127378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720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P = sucesso da tentativa, supondo a fraqueza presente</a:t>
            </a:r>
          </a:p>
        </p:txBody>
      </p:sp>
      <p:sp>
        <p:nvSpPr>
          <p:cNvPr id="5" name="Leitura, ação inválida e bloqueio são diretos sem os controles.">
            <a:extLst xmlns:a="http://schemas.openxmlformats.org/drawingml/2006/main">
              <a:ext uri="{FF2B5EF4-FFF2-40B4-BE49-F238E27FC236}">
                <a16:creationId xmlns:a16="http://schemas.microsoft.com/office/drawing/2014/main" id="{3F848D59-8E1D-427D-8A0E-E76E5267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Leitura, ação inválida e bloqueio são diretos sem os controles.</a:t>
            </a:r>
          </a:p>
        </p:txBody>
      </p:sp>
      <p:sp>
        <p:nvSpPr>
          <p:cNvPr id="6" name="Impacto: T1/T2 invalidam justiça. T3 interrompe o progresso.">
            <a:extLst xmlns:a="http://schemas.openxmlformats.org/drawingml/2006/main">
              <a:ext uri="{FF2B5EF4-FFF2-40B4-BE49-F238E27FC236}">
                <a16:creationId xmlns:a16="http://schemas.microsoft.com/office/drawing/2014/main" id="{4649FD20-B1D3-4279-A717-C7C94C68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Impacto: T1/T2 invalidam justiça. T3 interrompe o progresso.</a:t>
            </a:r>
          </a:p>
        </p:txBody>
      </p:sp>
    </p:spTree>
    <p:extLst>
      <p:ext uri="{BB962C8B-B14F-4D97-AF65-F5344CB8AC3E}">
        <p14:creationId xmlns:p14="http://schemas.microsoft.com/office/powerpoint/2010/main" val="21083909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rioridade e próxima adaptação">
            <a:extLst xmlns:a="http://schemas.openxmlformats.org/drawingml/2006/main">
              <a:ext uri="{FF2B5EF4-FFF2-40B4-BE49-F238E27FC236}">
                <a16:creationId xmlns:a16="http://schemas.microsoft.com/office/drawing/2014/main" id="{9F860050-C58D-48A7-8F86-26A7F30A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Prioridade e próxima adaptação</a:t>
            </a:r>
          </a:p>
        </p:txBody>
      </p:sp>
      <p:sp>
        <p:nvSpPr>
          <p:cNvPr id="2" name="Grupo 7 · Poker Adversarial · 9/12">
            <a:extLst xmlns:a="http://schemas.openxmlformats.org/drawingml/2006/main">
              <a:ext uri="{FF2B5EF4-FFF2-40B4-BE49-F238E27FC236}">
                <a16:creationId xmlns:a16="http://schemas.microsoft.com/office/drawing/2014/main" id="{B6AD2D8B-57B0-4E9A-A90C-BEA96ECE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9/12</a:t>
            </a:r>
          </a:p>
        </p:txBody>
      </p:sp>
      <p:sp>
        <p:nvSpPr>
          <p:cNvPr id="3" name="T1 e T2 empatam em 9. A informação exposta não pode ser esquecida">
            <a:extLst xmlns:a="http://schemas.openxmlformats.org/drawingml/2006/main">
              <a:ext uri="{FF2B5EF4-FFF2-40B4-BE49-F238E27FC236}">
                <a16:creationId xmlns:a16="http://schemas.microsoft.com/office/drawing/2014/main" id="{7612A51C-7E8A-444A-892E-E2969645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T1 e T2 empatam em 9. A informação exposta não pode ser esquecida.</a:t>
            </a:r>
          </a:p>
        </p:txBody>
      </p:sp>
      <p:sp>
        <p:nvSpPr>
          <p:cNvPr id="4" name="Consulta campo privado">
            <a:extLst xmlns:a="http://schemas.openxmlformats.org/drawingml/2006/main">
              <a:ext uri="{FF2B5EF4-FFF2-40B4-BE49-F238E27FC236}">
                <a16:creationId xmlns:a16="http://schemas.microsoft.com/office/drawing/2014/main" id="{DA42603D-140D-4572-BCCD-4EB340B5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Consulta campo privado</a:t>
            </a:r>
          </a:p>
        </p:txBody>
      </p:sp>
      <p:sp>
        <p:nvSpPr>
          <p:cNvPr id="5" name="Recebe visão filtrada">
            <a:extLst xmlns:a="http://schemas.openxmlformats.org/drawingml/2006/main">
              <a:ext uri="{FF2B5EF4-FFF2-40B4-BE49-F238E27FC236}">
                <a16:creationId xmlns:a16="http://schemas.microsoft.com/office/drawing/2014/main" id="{8B5FFDAC-239F-4559-BA97-D12212AC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Recebe visão filtrada</a:t>
            </a:r>
          </a:p>
        </p:txBody>
      </p:sp>
      <p:sp>
        <p:nvSpPr>
          <p:cNvPr id="6" name="Procura no histórico">
            <a:extLst xmlns:a="http://schemas.openxmlformats.org/drawingml/2006/main">
              <a:ext uri="{FF2B5EF4-FFF2-40B4-BE49-F238E27FC236}">
                <a16:creationId xmlns:a16="http://schemas.microsoft.com/office/drawing/2014/main" id="{17320700-125A-4412-B4BE-08D12C06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717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Procura no histórico</a:t>
            </a:r>
          </a:p>
        </p:txBody>
      </p:sp>
      <p:sp>
        <p:nvSpPr>
          <p:cNvPr id="7" name="Histórico também filtrado">
            <a:extLst xmlns:a="http://schemas.openxmlformats.org/drawingml/2006/main">
              <a:ext uri="{FF2B5EF4-FFF2-40B4-BE49-F238E27FC236}">
                <a16:creationId xmlns:a16="http://schemas.microsoft.com/office/drawing/2014/main" id="{C5059E6F-DA33-4DD3-AECE-E32726AD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672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Histórico também filtrado</a:t>
            </a:r>
          </a:p>
        </p:txBody>
      </p: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429000" y="30099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334250" y="30099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6" idx="2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810500" y="3448050"/>
            <a:ext cx="2143125" cy="1257300"/>
          </a:xfrm>
          <a:prstGeom xmlns:a="http://schemas.openxmlformats.org/drawingml/2006/main" prst="bentConnector5">
            <a:avLst>
              <a:gd name="adj1" fmla="val 0"/>
              <a:gd name="adj2" fmla="val 18182"/>
              <a:gd name="adj3" fmla="val 89333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1" name="Custo: filtro pode omitir informação pública necessária.">
            <a:extLst xmlns:a="http://schemas.openxmlformats.org/drawingml/2006/main">
              <a:ext uri="{FF2B5EF4-FFF2-40B4-BE49-F238E27FC236}">
                <a16:creationId xmlns:a16="http://schemas.microsoft.com/office/drawing/2014/main" id="{BBE04DD6-667D-4B64-B5E3-19BEC466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592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Custo: filtro pode omitir informação pública necessária.</a:t>
            </a:r>
          </a:p>
        </p:txBody>
      </p:sp>
      <p:sp>
        <p:nvSpPr>
          <p:cNvPr id="12" name="Risco residual: outro canal pode expor dados. Sequência hipotétic">
            <a:extLst xmlns:a="http://schemas.openxmlformats.org/drawingml/2006/main">
              <a:ext uri="{FF2B5EF4-FFF2-40B4-BE49-F238E27FC236}">
                <a16:creationId xmlns:a16="http://schemas.microsoft.com/office/drawing/2014/main" id="{2E3260D7-D4BA-47C9-8001-3ADC4F27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Risco residual: outro canal pode expor dados. Sequência hipotética.</a:t>
            </a:r>
          </a:p>
        </p:txBody>
      </p:sp>
    </p:spTree>
    <p:extLst>
      <p:ext uri="{BB962C8B-B14F-4D97-AF65-F5344CB8AC3E}">
        <p14:creationId xmlns:p14="http://schemas.microsoft.com/office/powerpoint/2010/main" val="12018255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desenho e custos">
            <a:extLst xmlns:a="http://schemas.openxmlformats.org/drawingml/2006/main">
              <a:ext uri="{FF2B5EF4-FFF2-40B4-BE49-F238E27FC236}">
                <a16:creationId xmlns:a16="http://schemas.microsoft.com/office/drawing/2014/main" id="{EE02F283-DD94-4C63-9784-19971D58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Redesenho e custos</a:t>
            </a:r>
          </a:p>
        </p:txBody>
      </p:sp>
      <p:sp>
        <p:nvSpPr>
          <p:cNvPr id="2" name="Grupo 7 · Poker Adversarial · 10/12">
            <a:extLst xmlns:a="http://schemas.openxmlformats.org/drawingml/2006/main">
              <a:ext uri="{FF2B5EF4-FFF2-40B4-BE49-F238E27FC236}">
                <a16:creationId xmlns:a16="http://schemas.microsoft.com/office/drawing/2014/main" id="{A208D65F-38E0-4AB6-B410-D7D22864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10/12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457325"/>
          <a:ext xmlns:a="http://schemas.openxmlformats.org/drawingml/2006/main" cx="11049000" cy="3295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3238500"/>
                <a:gridCol w="4095750"/>
              </a:tblGrid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Controle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Reação possível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 legítimo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Filtrar visão e histórico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Buscar outra saída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Omitir dado público por erro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Validar e aplicar uma vez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Testar fronteiras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Rejeitar ação válida por erro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Orçamento de decisão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Responder perto do limite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Fold automático de agente lento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Ação padrão: check quando legal, fold diante de aposta pendente.">
            <a:extLst xmlns:a="http://schemas.openxmlformats.org/drawingml/2006/main">
              <a:ext uri="{FF2B5EF4-FFF2-40B4-BE49-F238E27FC236}">
                <a16:creationId xmlns:a16="http://schemas.microsoft.com/office/drawing/2014/main" id="{25B5EF63-53C9-44DA-8BA0-AAC98500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577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Ação padrão: check quando legal, fold diante de aposta pendente.</a:t>
            </a:r>
          </a:p>
        </p:txBody>
      </p:sp>
      <p:sp>
        <p:nvSpPr>
          <p:cNvPr id="5" name="Auditoria e invariantes ajudam a detectar falhas. O risco residua">
            <a:extLst xmlns:a="http://schemas.openxmlformats.org/drawingml/2006/main">
              <a:ext uri="{FF2B5EF4-FFF2-40B4-BE49-F238E27FC236}">
                <a16:creationId xmlns:a16="http://schemas.microsoft.com/office/drawing/2014/main" id="{6C6C1036-0FCC-4EF6-A533-B3EAD571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Auditoria e invariantes ajudam a detectar falhas. O risco residual permanece.</a:t>
            </a:r>
          </a:p>
        </p:txBody>
      </p:sp>
    </p:spTree>
    <p:extLst>
      <p:ext uri="{BB962C8B-B14F-4D97-AF65-F5344CB8AC3E}">
        <p14:creationId xmlns:p14="http://schemas.microsoft.com/office/powerpoint/2010/main" val="2073789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rquitetura para o Trabalho 2">
            <a:extLst xmlns:a="http://schemas.openxmlformats.org/drawingml/2006/main">
              <a:ext uri="{FF2B5EF4-FFF2-40B4-BE49-F238E27FC236}">
                <a16:creationId xmlns:a16="http://schemas.microsoft.com/office/drawing/2014/main" id="{7AF2092B-698B-4CD7-B489-F03D7BFC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Arquitetura para o Trabalho 2</a:t>
            </a:r>
          </a:p>
        </p:txBody>
      </p:sp>
      <p:sp>
        <p:nvSpPr>
          <p:cNvPr id="2" name="Grupo 7 · Poker Adversarial · 11/12">
            <a:extLst xmlns:a="http://schemas.openxmlformats.org/drawingml/2006/main">
              <a:ext uri="{FF2B5EF4-FFF2-40B4-BE49-F238E27FC236}">
                <a16:creationId xmlns:a16="http://schemas.microsoft.com/office/drawing/2014/main" id="{3ECFECFE-541C-4696-9143-D103050B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11/12</a:t>
            </a:r>
          </a:p>
        </p:txBody>
      </p:sp>
      <p:sp>
        <p:nvSpPr>
          <p:cNvPr id="3" name="Motor e estado">
            <a:extLst xmlns:a="http://schemas.openxmlformats.org/drawingml/2006/main">
              <a:ext uri="{FF2B5EF4-FFF2-40B4-BE49-F238E27FC236}">
                <a16:creationId xmlns:a16="http://schemas.microsoft.com/office/drawing/2014/main" id="{2B3B98C8-A25E-4F9F-BE28-E5EB7FC2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2524125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Motor e estado</a:t>
            </a:r>
          </a:p>
        </p:txBody>
      </p:sp>
      <p:sp>
        <p:nvSpPr>
          <p:cNvPr id="4" name="Visão filtrada">
            <a:extLst xmlns:a="http://schemas.openxmlformats.org/drawingml/2006/main">
              <a:ext uri="{FF2B5EF4-FFF2-40B4-BE49-F238E27FC236}">
                <a16:creationId xmlns:a16="http://schemas.microsoft.com/office/drawing/2014/main" id="{65EE24F8-D66F-4FC8-86A6-8A9942C8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76400"/>
            <a:ext cx="25717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Visão filtrada</a:t>
            </a:r>
          </a:p>
        </p:txBody>
      </p:sp>
      <p:sp>
        <p:nvSpPr>
          <p:cNvPr id="5" name="Agente e executor">
            <a:extLst xmlns:a="http://schemas.openxmlformats.org/drawingml/2006/main">
              <a:ext uri="{FF2B5EF4-FFF2-40B4-BE49-F238E27FC236}">
                <a16:creationId xmlns:a16="http://schemas.microsoft.com/office/drawing/2014/main" id="{0B5FF3DE-454E-49EE-8D0A-2B63963D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2385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e executor</a:t>
            </a:r>
          </a:p>
        </p:txBody>
      </p:sp>
      <p:sp>
        <p:nvSpPr>
          <p:cNvPr id="6" name="Validação">
            <a:extLst xmlns:a="http://schemas.openxmlformats.org/drawingml/2006/main">
              <a:ext uri="{FF2B5EF4-FFF2-40B4-BE49-F238E27FC236}">
                <a16:creationId xmlns:a16="http://schemas.microsoft.com/office/drawing/2014/main" id="{AD16CFA4-DA49-4199-BC64-FF032F13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32385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7" name="Atualização e registro">
            <a:extLst xmlns:a="http://schemas.openxmlformats.org/drawingml/2006/main">
              <a:ext uri="{FF2B5EF4-FFF2-40B4-BE49-F238E27FC236}">
                <a16:creationId xmlns:a16="http://schemas.microsoft.com/office/drawing/2014/main" id="{D38DD9BF-D0A3-4B55-ABF6-CED078CC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33750"/>
            <a:ext cx="25717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Atualização e registro</a:t>
            </a:r>
          </a:p>
        </p:txBody>
      </p:sp>
      <p:cxnSp>
        <p:nvCxnSpPr>
          <p:cNvPr id="23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095625" y="2090738"/>
            <a:ext cx="1190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6858000" y="2090738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715500" y="2505075"/>
            <a:ext cx="0" cy="828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6858000" y="3748088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1"/>
            <a:endCxn xmlns:a="http://schemas.openxmlformats.org/drawingml/2006/main" id="3" idx="2"/>
          </p:cNvCxnSpPr>
          <p:nvPr/>
        </p:nvCxnSpPr>
        <p:spPr>
          <a:xfrm xmlns:a="http://schemas.openxmlformats.org/drawingml/2006/main" flipH="1" flipV="1">
            <a:off x="1833563" y="2505075"/>
            <a:ext cx="2452688" cy="1243013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3" name="Critérios: 220 fichas, visões autorizadas e ações aplicadas uma v">
            <a:extLst xmlns:a="http://schemas.openxmlformats.org/drawingml/2006/main">
              <a:ext uri="{FF2B5EF4-FFF2-40B4-BE49-F238E27FC236}">
                <a16:creationId xmlns:a16="http://schemas.microsoft.com/office/drawing/2014/main" id="{CF5E1467-A708-4EFA-B692-C409BD4F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720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Critérios: 220 fichas, visões autorizadas e ações aplicadas uma vez.</a:t>
            </a:r>
          </a:p>
        </p:txBody>
      </p:sp>
      <p:sp>
        <p:nvSpPr>
          <p:cNvPr id="14" name="Registro interno: observação, política anterior, política atual e">
            <a:extLst xmlns:a="http://schemas.openxmlformats.org/drawingml/2006/main">
              <a:ext uri="{FF2B5EF4-FFF2-40B4-BE49-F238E27FC236}">
                <a16:creationId xmlns:a16="http://schemas.microsoft.com/office/drawing/2014/main" id="{B3D824B5-BBBD-430B-96BA-6D0E7A73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435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Registro interno: observação, política anterior, política atual e ação.</a:t>
            </a:r>
          </a:p>
        </p:txBody>
      </p:sp>
      <p:sp>
        <p:nvSpPr>
          <p:cNvPr id="15" name="Planejamento de implementação. Critérios ainda não testados em mo">
            <a:extLst xmlns:a="http://schemas.openxmlformats.org/drawingml/2006/main">
              <a:ext uri="{FF2B5EF4-FFF2-40B4-BE49-F238E27FC236}">
                <a16:creationId xmlns:a16="http://schemas.microsoft.com/office/drawing/2014/main" id="{AA3C6C15-AB39-40F9-8D81-8888BEB4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Planejamento de implementação. Critérios ainda não testados em motor funcional.</a:t>
            </a:r>
          </a:p>
        </p:txBody>
      </p:sp>
    </p:spTree>
    <p:extLst>
      <p:ext uri="{BB962C8B-B14F-4D97-AF65-F5344CB8AC3E}">
        <p14:creationId xmlns:p14="http://schemas.microsoft.com/office/powerpoint/2010/main" val="718646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prendizado e propriedades preservadas">
            <a:extLst xmlns:a="http://schemas.openxmlformats.org/drawingml/2006/main">
              <a:ext uri="{FF2B5EF4-FFF2-40B4-BE49-F238E27FC236}">
                <a16:creationId xmlns:a16="http://schemas.microsoft.com/office/drawing/2014/main" id="{F1895B62-7230-4315-AC45-39705C5B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Aprendizado e propriedades preservadas</a:t>
            </a:r>
          </a:p>
        </p:txBody>
      </p:sp>
      <p:sp>
        <p:nvSpPr>
          <p:cNvPr id="2" name="Grupo 7 · Poker Adversarial · 12/12">
            <a:extLst xmlns:a="http://schemas.openxmlformats.org/drawingml/2006/main">
              <a:ext uri="{FF2B5EF4-FFF2-40B4-BE49-F238E27FC236}">
                <a16:creationId xmlns:a16="http://schemas.microsoft.com/office/drawing/2014/main" id="{83300B7E-6E1C-4DBD-9064-E6C9ABC6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12/12</a:t>
            </a:r>
          </a:p>
        </p:txBody>
      </p:sp>
      <p:sp>
        <p:nvSpPr>
          <p:cNvPr id="3" name="O outro lado aprende com ações e limites observáveis">
            <a:extLst xmlns:a="http://schemas.openxmlformats.org/drawingml/2006/main">
              <a:ext uri="{FF2B5EF4-FFF2-40B4-BE49-F238E27FC236}">
                <a16:creationId xmlns:a16="http://schemas.microsoft.com/office/drawing/2014/main" id="{7F4F01B9-6BCB-4259-BA76-23E4A85D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O outro lado aprende com ações e limites observáveis</a:t>
            </a:r>
          </a:p>
        </p:txBody>
      </p:sp>
      <p:sp>
        <p:nvSpPr>
          <p:cNvPr id="4" name="Pode rever blefes, decisões de pagar e caminhos de acesso à infor">
            <a:extLst xmlns:a="http://schemas.openxmlformats.org/drawingml/2006/main">
              <a:ext uri="{FF2B5EF4-FFF2-40B4-BE49-F238E27FC236}">
                <a16:creationId xmlns:a16="http://schemas.microsoft.com/office/drawing/2014/main" id="{FA4F85E0-F936-4D93-A979-A55FA2A3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11049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Pode rever blefes, decisões de pagar e caminhos de acesso à informação.</a:t>
            </a:r>
          </a:p>
        </p:txBody>
      </p:sp>
      <p:sp>
        <p:nvSpPr>
          <p:cNvPr id="5" name="O motor preserva sigilo, fichas e progresso da mão.">
            <a:extLst xmlns:a="http://schemas.openxmlformats.org/drawingml/2006/main">
              <a:ext uri="{FF2B5EF4-FFF2-40B4-BE49-F238E27FC236}">
                <a16:creationId xmlns:a16="http://schemas.microsoft.com/office/drawing/2014/main" id="{983D5CC8-F303-4D01-94B0-CD68330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O motor preserva sigilo, fichas e progresso da mão.</a:t>
            </a:r>
          </a:p>
        </p:txBody>
      </p:sp>
      <p:sp>
        <p:nvSpPr>
          <p:cNvPr id="6" name="Fontes: PokerStars (regras e mãos), MIT (teoria dos jogos)&#10;e OWAS">
            <a:extLst xmlns:a="http://schemas.openxmlformats.org/drawingml/2006/main">
              <a:ext uri="{FF2B5EF4-FFF2-40B4-BE49-F238E27FC236}">
                <a16:creationId xmlns:a16="http://schemas.microsoft.com/office/drawing/2014/main" id="{3AA12633-60AD-425B-A172-481036C0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29100"/>
            <a:ext cx="1104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Fontes: PokerStars (regras e mãos), MIT (teoria dos jogos)</a:t>
            </a:r>
          </a:p>
          <a:p xmlns:a="http://schemas.openxmlformats.org/drawingml/2006/main">
            <a:pPr algn="l">
              <a:defRPr sz="19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e OWASP (ameaças, validação e registros). Links no relatório.</a:t>
            </a:r>
          </a:p>
        </p:txBody>
      </p:sp>
      <p:sp>
        <p:nvSpPr>
          <p:cNvPr id="7" name="Uso de IA: Codex na pesquisa, redação e produção dos materiais.&#10;R">
            <a:extLst xmlns:a="http://schemas.openxmlformats.org/drawingml/2006/main">
              <a:ext uri="{FF2B5EF4-FFF2-40B4-BE49-F238E27FC236}">
                <a16:creationId xmlns:a16="http://schemas.microsoft.com/office/drawing/2014/main" id="{47757BB0-76E4-41FD-8699-BF00C038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Uso de IA: Codex na pesquisa, redação e produção dos materiais.</a:t>
            </a:r>
          </a:p>
          <a:p xmlns:a="http://schemas.openxmlformats.org/drawingml/2006/main">
            <a:pPr algn="l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Revisão humana e contribuições reais do grupo ainda pendentes.</a:t>
            </a:r>
          </a:p>
        </p:txBody>
      </p:sp>
    </p:spTree>
    <p:extLst>
      <p:ext uri="{BB962C8B-B14F-4D97-AF65-F5344CB8AC3E}">
        <p14:creationId xmlns:p14="http://schemas.microsoft.com/office/powerpoint/2010/main" val="3463380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2026-10-05T16:53:02.6500000Z</dcterms:created>
  <dcterms:modified xsi:type="dcterms:W3CDTF">2026-10-05T16:53:02.6500000Z</dcterms:modified>
</coreProperties>
</file>