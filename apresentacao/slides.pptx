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011b18bd8e4bb3" /><Relationship Type="http://schemas.openxmlformats.org/officeDocument/2006/relationships/extended-properties" Target="/docProps/app.xml" Id="Rf5939f0489c04caf" /><Relationship Type="http://schemas.openxmlformats.org/officeDocument/2006/relationships/officeDocument" Target="/ppt/presentation.xml" Id="R03dedf75b2da45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8427a096644d9b"/>
  </p:sldMasterIdLst>
  <p:notesMasterIdLst>
    <p:notesMasterId xmlns:r="http://schemas.openxmlformats.org/officeDocument/2006/relationships" r:id="R0abed77a871940ae"/>
  </p:notesMasterIdLst>
  <p:sldIdLst>
    <p:sldId xmlns:r="http://schemas.openxmlformats.org/officeDocument/2006/relationships" id="256" r:id="R137e381d852643ea"/>
    <p:sldId xmlns:r="http://schemas.openxmlformats.org/officeDocument/2006/relationships" id="257" r:id="R0787c6c2874f4ce2"/>
    <p:sldId xmlns:r="http://schemas.openxmlformats.org/officeDocument/2006/relationships" id="258" r:id="Rfe2aee3268884f0f"/>
    <p:sldId xmlns:r="http://schemas.openxmlformats.org/officeDocument/2006/relationships" id="259" r:id="Rd7bb33d73029403b"/>
    <p:sldId xmlns:r="http://schemas.openxmlformats.org/officeDocument/2006/relationships" id="260" r:id="R5e19af5675634f78"/>
    <p:sldId xmlns:r="http://schemas.openxmlformats.org/officeDocument/2006/relationships" id="261" r:id="Re0f244a3d4f345c6"/>
    <p:sldId xmlns:r="http://schemas.openxmlformats.org/officeDocument/2006/relationships" id="262" r:id="R4a2cb2ce3f4d484c"/>
    <p:sldId xmlns:r="http://schemas.openxmlformats.org/officeDocument/2006/relationships" id="263" r:id="R539accbb9e264954"/>
    <p:sldId xmlns:r="http://schemas.openxmlformats.org/officeDocument/2006/relationships" id="264" r:id="Rb39e84e8cb5143a7"/>
    <p:sldId xmlns:r="http://schemas.openxmlformats.org/officeDocument/2006/relationships" id="265" r:id="R618a110478994bf1"/>
    <p:sldId xmlns:r="http://schemas.openxmlformats.org/officeDocument/2006/relationships" id="266" r:id="R6a65515d42b64873"/>
    <p:sldId xmlns:r="http://schemas.openxmlformats.org/officeDocument/2006/relationships" id="267" r:id="R059ea6cb228346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68538e0a4c4b1e" /><Relationship Type="http://schemas.openxmlformats.org/officeDocument/2006/relationships/slideMaster" Target="/ppt/slideMasters/slideMaster1.xml" Id="Rd38427a096644d9b" /><Relationship Type="http://schemas.openxmlformats.org/officeDocument/2006/relationships/notesMaster" Target="/ppt/notesMasters/notesMaster1.xml" Id="R0abed77a871940ae" /><Relationship Type="http://schemas.openxmlformats.org/officeDocument/2006/relationships/presProps" Target="/ppt/presProps.xml" Id="R6e968ae7eb8b4153" /><Relationship Type="http://schemas.openxmlformats.org/officeDocument/2006/relationships/tableStyles" Target="/ppt/tableStyles.xml" Id="Reab83c3d149d40d3" /><Relationship Type="http://schemas.openxmlformats.org/officeDocument/2006/relationships/slide" Target="/ppt/slides/slide1.xml" Id="R137e381d852643ea" /><Relationship Type="http://schemas.openxmlformats.org/officeDocument/2006/relationships/slide" Target="/ppt/slides/slide2.xml" Id="R0787c6c2874f4ce2" /><Relationship Type="http://schemas.openxmlformats.org/officeDocument/2006/relationships/slide" Target="/ppt/slides/slide3.xml" Id="Rfe2aee3268884f0f" /><Relationship Type="http://schemas.openxmlformats.org/officeDocument/2006/relationships/slide" Target="/ppt/slides/slide4.xml" Id="Rd7bb33d73029403b" /><Relationship Type="http://schemas.openxmlformats.org/officeDocument/2006/relationships/slide" Target="/ppt/slides/slide5.xml" Id="R5e19af5675634f78" /><Relationship Type="http://schemas.openxmlformats.org/officeDocument/2006/relationships/slide" Target="/ppt/slides/slide6.xml" Id="Re0f244a3d4f345c6" /><Relationship Type="http://schemas.openxmlformats.org/officeDocument/2006/relationships/slide" Target="/ppt/slides/slide7.xml" Id="R4a2cb2ce3f4d484c" /><Relationship Type="http://schemas.openxmlformats.org/officeDocument/2006/relationships/slide" Target="/ppt/slides/slide8.xml" Id="R539accbb9e264954" /><Relationship Type="http://schemas.openxmlformats.org/officeDocument/2006/relationships/slide" Target="/ppt/slides/slide9.xml" Id="Rb39e84e8cb5143a7" /><Relationship Type="http://schemas.openxmlformats.org/officeDocument/2006/relationships/slide" Target="/ppt/slides/slide10.xml" Id="R618a110478994bf1" /><Relationship Type="http://schemas.openxmlformats.org/officeDocument/2006/relationships/slide" Target="/ppt/slides/slide11.xml" Id="R6a65515d42b64873" /><Relationship Type="http://schemas.openxmlformats.org/officeDocument/2006/relationships/slide" Target="/ppt/slides/slide12.xml" Id="R059ea6cb228346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45bed2b9514a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e5d51fc6f2437f" /><Relationship Type="http://schemas.openxmlformats.org/officeDocument/2006/relationships/notesMaster" Target="/ppt/notesMasters/notesMaster1.xml" Id="R9e6ff8fbc2fa4c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109883958f46a8" /><Relationship Type="http://schemas.openxmlformats.org/officeDocument/2006/relationships/notesMaster" Target="/ppt/notesMasters/notesMaster1.xml" Id="R405048ab314345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132523499e4c23" /><Relationship Type="http://schemas.openxmlformats.org/officeDocument/2006/relationships/notesMaster" Target="/ppt/notesMasters/notesMaster1.xml" Id="R2c18ac627cc040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aa5246398b436e" /><Relationship Type="http://schemas.openxmlformats.org/officeDocument/2006/relationships/notesMaster" Target="/ppt/notesMasters/notesMaster1.xml" Id="R0d3b8dc4fe8542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8c1ac0761e490a" /><Relationship Type="http://schemas.openxmlformats.org/officeDocument/2006/relationships/notesMaster" Target="/ppt/notesMasters/notesMaster1.xml" Id="Rd3b0e75d5fb342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73511210dd479e" /><Relationship Type="http://schemas.openxmlformats.org/officeDocument/2006/relationships/notesMaster" Target="/ppt/notesMasters/notesMaster1.xml" Id="Rdcd9883d42454e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c9ace3856744bd" /><Relationship Type="http://schemas.openxmlformats.org/officeDocument/2006/relationships/notesMaster" Target="/ppt/notesMasters/notesMaster1.xml" Id="Ra1d416dbbf784f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3dbd592d654f41" /><Relationship Type="http://schemas.openxmlformats.org/officeDocument/2006/relationships/notesMaster" Target="/ppt/notesMasters/notesMaster1.xml" Id="Re31cd273171246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78a79d1679433e" /><Relationship Type="http://schemas.openxmlformats.org/officeDocument/2006/relationships/notesMaster" Target="/ppt/notesMasters/notesMaster1.xml" Id="R79746e72f90c47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41521dc8ac444d" /><Relationship Type="http://schemas.openxmlformats.org/officeDocument/2006/relationships/notesMaster" Target="/ppt/notesMasters/notesMaster1.xml" Id="R856a19601ad047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51f311506543cb" /><Relationship Type="http://schemas.openxmlformats.org/officeDocument/2006/relationships/notesMaster" Target="/ppt/notesMasters/notesMaster1.xml" Id="R0579a639abbb49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4195027bdf4ed3" /><Relationship Type="http://schemas.openxmlformats.org/officeDocument/2006/relationships/notesMaster" Target="/ppt/notesMasters/notesMaster1.xml" Id="R67c3632705ac4d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Somos o Grupo 7, formado por Rafael, Elton, Frederico e Diego. Nosso trabalho analisa uma interação de poker entre dois agentes de software. Cada agente busca melhorar seu resultado em fichas e precisa tomar decisões sem conhecer as cartas privadas do adversário. A pergunta que orienta a análise é como as escolhas de um lado produzem informação e mudam a decisão seguinte do outro. Nesta primeira entrega, apresentamos o planejamento, os modelos estratégicos e os riscos. A implementação funcional fica para o Trabalho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mão começa antes do flop, com duas cartas privadas para cada agente e nenhuma comunitária aberta. A coloca small blind de 5 e B, big blind de 10. A age primeiro no pré-flop e B nas etapas seguintes. Permitimos check, bet, call, fold, raise e all-in, com fichas inteiras até o saldo. Um raise indica o total da etapa; call paga apenas a diferença. O mínimo de aposta é 10 e o de aumento acompanha o último aumento completo. All-in pago encerra as decisões de aposta: devolvemos excesso não coberto e revelamos as cartas restantes. O relatório também traz um blefe all-in pré-flop, além do percurso principal com quatro etapas.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R1: https://www.pokerstars.com/poker/games/texas-holdem/</a:t>
            </a:r>
          </a:p>
          <a:p xmlns:a="http://schemas.openxmlformats.org/drawingml/2006/main">
            <a:r>
              <a:t>R7: https://www.pokerstars.com/help/articles/poker-rules-master/229168/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 agentes A e B têm objetivos conflitantes porque disputam o mesmo pote. Suas decisões são intencionais: podem pagar para obter mais informação, desistir para limitar perdas ou apostar para pressionar o adversário. O motor tem outra responsabilidade: preservar a integridade da mão, aplicar as regras e conservar as fichas. Também precisamos preservar o sigilo das cartas privadas e permitir que a interação avance. O diagrama mostra quais informações circulam entre os agentes e o motor. Nossa proposta depende de três pressupostos: cada agente recebe apenas sua visão autorizada, o motor valida as ações e cada decisão termina dentro de um limite de execução. Se esses pressupostos falharem, surgem os riscos que discutiremos. Isso caracteriza uma situação adversarial porque as decisões procuram influenciar e explorar a reação do outro, além de responder ao acaso das cartas.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matriz analisa o river após o check inicial de B, com pote de 80, aposta de 20 e cartas com as quais B vence. O analista conhece os resultados; os agentes não conhecem as cartas do outro. A aposta ou dá check. B paga ou desiste diante da aposta; check de A encerra a etapa. Raises e all-in continuam permitidos no sistema, mas estão fora desta tabela reduzida. Com call, A perde 20 adicionais e B ganha 100 desse ponto em diante. Com fold, A ganha 80. Com check, A ganha zero e B recebe 80. A tabela converte esses ganhos em preferências. Seu equilíbrio não resolve a incerteza durante a mão.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R3: https://ocw.mit.edu/courses/17-810-game-theory-spring-2021/mit17_810s21_lec2.pdf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 B paga, A prefere check; se B desiste, A prefere apostar. A não tem estratégia dominante. Para B, pagar é melhor diante da aposta e empata com a outra política diante do check. Assim, pagar domina fracamente: é melhor numa linha e igual na outra. O único equilíbrio puro da tabela é check com a política de pagar. Nenhum jogador melhora mudando sozinho. Check com a política de desistir não é equilíbrio, pois A melhoraria apostando. Esse resultado conserva fichas e usa ações legais. As garantias de sigilo e justiça dependem também dos controles do motor; a matriz sozinha não as comprova.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R3: https://ocw.mit.edu/courses/17-810-game-theory-spring-2021/mit17_810s21_lec2.pdf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pré-flop, A aumenta para 20 e B paga, levando o pote a 40. A mantém pressão pequena. No flop, B dá check, A aposta 10 e B aumenta para 20. A paga só mais 10. O pote chega a 80. O raise leva A à cautela; o call leva B a trocar aposta por valor por check visando indução. No turn, B dá check e A também. A interpreta a ausência de nova aposta como fraqueza. No river, B repete check, A blefa 20 e B paga. B vence com trinca: A termina com 50 e B com 170. No ramo all-in pré-flop, fold dá 120 a A; call leva à revelação sem novas apostas e, nesta mesa, B termina com 220.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R1: https://www.pokerstars.com/poker/games/texas-holdem/</a:t>
            </a:r>
          </a:p>
          <a:p xmlns:a="http://schemas.openxmlformats.org/drawingml/2006/main">
            <a:r>
              <a:t>R2: https://www.pokerstars.com/poker/games/rules/hand-rankings/</a:t>
            </a:r>
          </a:p>
          <a:p xmlns:a="http://schemas.openxmlformats.org/drawingml/2006/main">
            <a:r>
              <a:t>R7: https://www.pokerstars.com/help/articles/poker-rules-master/229168/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 quatro etapas usam chamadas de observação, decisão e validação. Nessas mesmas interfaces, analisamos três desvios: T1 expõe cartas na visão de estado; T2 aceita uma ação inválida; T3 deixa uma decisão bloquear a execução. São cenários hipotéticos anteriores aos controles, supondo um agente deliberadamente adversarial e a fraqueza indicada. O diagrama liga cada ponto ao ativo afetado. As etapas apresentadas seguem ações legais; os riscos mostram o que poderia falhar nessas chamadas. Blefar continua permitido. Perder legitimamente é diferente de perder porque o adversário recebeu informação privada ou alterou as regras.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Avaliamos a chance de a tentativa funcionar supondo que a fraqueza descrita existe. A probabilidade qualitativa é três nos três casos: basta ler o campo exposto, enviar uma ação sem a validação correspondente ou não retornar de uma chamada sem limite. O ambiente local não dificulta essas ações. T1 e T2 recebem impacto três porque expõem cartas ou invalidam a contabilização e as regras. T3 recebe dois porque interrompe a mão, sem necessariamente alterar saldos ou revelar dados. Multiplicando probabilidade por impacto, temos nove, nove e seis. T1 e T2 empatam. As notas são avaliações didáticas condicionais, não medições da frequência de ataques nem prova de que essas falhas já existem no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Aprofundamos T1, empatada com T2, porque não é possível fazer o agente esquecer cartas já expostas. Isso não dispensa corrigir T2. Para T1, propomos visões específicas e separação dos registros públicos e internos. Uma reação possível é o agente consultar um campo privado, perceber sua ausência e tentar obtê-lo pelo histórico. O histórico também precisa estar filtrado. Depois, ele pode explorar sinais públicos permitidos ou procurar outro canal de exposição. Essa sequência é uma hipótese de adaptação, não um teste realizado. O controle custa manutenção e pode omitir informação pública por erro, prejudicando agentes legítimos. O risco residual é outro caminho de vazamento; ainda não temos evidência para atribuir uma redução numérica ao risco.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redesenho propõe três controles. Para T1, filtramos visões e históricos. Para T2, validamos vez, ação, saldo e limites antes de atualizar o estado. Para T3, encerramos decisões que excedem um orçamento e aplicamos check quando legal ou fold quando existe aposta pendente. Um adversário pode procurar outra saída de dados ou passar a responder logo antes do limite. A defesa também custa: um erro pode rejeitar uma ação válida, e um agente legítimo lento pode sofrer fold automático. Por isso, precisamos registrar o motivo de cada resposta e verificar seus efeitos. A resiliência consiste em continuar preservando as propriedades da mão diante dessas adaptações; não pressupõe eliminar todo comportamento adversarial.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R5: https://cheatsheetseries.owasp.org/cheatsheets/Input_Validation_Cheat_Sheet.html</a:t>
            </a:r>
          </a:p>
          <a:p xmlns:a="http://schemas.openxmlformats.org/drawingml/2006/main">
            <a:r>
              <a:t>R6: https://cheatsheetseries.owasp.org/cheatsheets/Logging_Cheat_Sheet.html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arquitetura possui motor e estado, provedor de visões, agentes, validador, executor e registro. Além de vez e saldo, o estado guarda contribuição por etapa, valor a pagar e último aumento completo. O motor calcula quanto transferir em raise, call e all-in. All-in pago devolve excesso e entra em runout sem pedir novas apostas. No Trabalho 2, verificaremos o percurso até 50 e 170, os ramos de all-in, conservação de fichas, sigilo e rejeição de ações inválidas. Os registros privados ligam observação, política anterior, política atual e custo, sem entregar o raciocínio ao oponente. São critérios planejados para implementação futura.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R5: https://cheatsheetseries.owasp.org/cheatsheets/Input_Validation_Cheat_Sheet.html</a:t>
            </a:r>
          </a:p>
          <a:p xmlns:a="http://schemas.openxmlformats.org/drawingml/2006/main">
            <a:r>
              <a:t>R6: https://cheatsheetseries.owasp.org/cheatsheets/Logging_Cheat_Sheet.html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Depois da resposta, o outro lado aprende com as ações e os limites observáveis. Pode mudar seus blefes, suas decisões de pagar ou o caminho pelo qual procura informação. Apesar disso, o sistema precisa preservar sigilo, fichas e progresso da mão. As fontes que sustentam regras e conceitos ficam no relatório, junto da declaração das tarefas em que usamos IA. Antes de entregar, cada integrante deve conferir contas e conceitos e registrar sua contribuição real. Essa verificação inclui explicar a adaptação dos dois agentes, os limites da matriz e os critérios dos riscos. A análise resultante será a base da implementação no Trabalho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consultadas em 05/10/2026, regras de poker reconferidas em 06/10/2026:</a:t>
            </a:r>
          </a:p>
          <a:p xmlns:a="http://schemas.openxmlformats.org/drawingml/2006/main">
            <a:r>
              <a:t>R1: https://www.pokerstars.com/poker/games/texas-holdem/</a:t>
            </a:r>
          </a:p>
          <a:p xmlns:a="http://schemas.openxmlformats.org/drawingml/2006/main">
            <a:r>
              <a:t>R2: https://www.pokerstars.com/poker/games/rules/hand-rankings/</a:t>
            </a:r>
          </a:p>
          <a:p xmlns:a="http://schemas.openxmlformats.org/drawingml/2006/main">
            <a:r>
              <a:t>R3: https://ocw.mit.edu/courses/17-810-game-theory-spring-2021/mit17_810s21_lec2.pdf</a:t>
            </a:r>
          </a:p>
          <a:p xmlns:a="http://schemas.openxmlformats.org/drawingml/2006/main">
            <a:r>
              <a:t>R4: https://cheatsheetseries.owasp.org/cheatsheets/Threat_Modeling_Cheat_Sheet.html</a:t>
            </a:r>
          </a:p>
          <a:p xmlns:a="http://schemas.openxmlformats.org/drawingml/2006/main">
            <a:r>
              <a:t>R5: https://cheatsheetseries.owasp.org/cheatsheets/Input_Validation_Cheat_Sheet.html</a:t>
            </a:r>
          </a:p>
          <a:p xmlns:a="http://schemas.openxmlformats.org/drawingml/2006/main">
            <a:r>
              <a:t>R6: https://cheatsheetseries.owasp.org/cheatsheets/Logging_Cheat_Sheet.html</a:t>
            </a:r>
          </a:p>
          <a:p xmlns:a="http://schemas.openxmlformats.org/drawingml/2006/main">
            <a:r>
              <a:t>R7: https://www.pokerstars.com/help/articles/poker-rules-master/229168/</a:t>
            </a:r>
          </a:p>
          <a:p xmlns:a="http://schemas.openxmlformats.org/drawingml/2006/main">
            <a:r>
              <a:t>Cenário sintético e análise de planejamento. Revisão humana e gravação pendentes.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73dcbac3744a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b129e2a7f1403e" /><Relationship Type="http://schemas.openxmlformats.org/officeDocument/2006/relationships/slideLayout" Target="/ppt/slideLayouts/slideLayout1.xml" Id="R5bd41a7dbbb341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d41a7dbbb341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e90cef0e10446f" /><Relationship Type="http://schemas.openxmlformats.org/officeDocument/2006/relationships/notesSlide" Target="/ppt/notesSlides/notesSlide1.xml" Id="R4ef3f6f4260e4f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4c1d9b26c4104" /><Relationship Type="http://schemas.openxmlformats.org/officeDocument/2006/relationships/notesSlide" Target="/ppt/notesSlides/notesSlide2.xml" Id="R506b8b34e0664b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dc16a797447e2" /><Relationship Type="http://schemas.openxmlformats.org/officeDocument/2006/relationships/notesSlide" Target="/ppt/notesSlides/notesSlide3.xml" Id="R1ff9ab86a16045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0a03406dc4a27" /><Relationship Type="http://schemas.openxmlformats.org/officeDocument/2006/relationships/notesSlide" Target="/ppt/notesSlides/notesSlide4.xml" Id="Rb36fd979cc1f45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c01bb8db24c0d" /><Relationship Type="http://schemas.openxmlformats.org/officeDocument/2006/relationships/notesSlide" Target="/ppt/notesSlides/notesSlide5.xml" Id="R9b542c6e0ebf4a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29b2b33b74b18" /><Relationship Type="http://schemas.openxmlformats.org/officeDocument/2006/relationships/notesSlide" Target="/ppt/notesSlides/notesSlide6.xml" Id="R447ac24ab4d544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f56ff8bb9641f6" /><Relationship Type="http://schemas.openxmlformats.org/officeDocument/2006/relationships/notesSlide" Target="/ppt/notesSlides/notesSlide7.xml" Id="R3a7cf251c29a41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53a06a98d4eb5" /><Relationship Type="http://schemas.openxmlformats.org/officeDocument/2006/relationships/notesSlide" Target="/ppt/notesSlides/notesSlide8.xml" Id="Rd68682b3942a44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89f8384a94301" /><Relationship Type="http://schemas.openxmlformats.org/officeDocument/2006/relationships/notesSlide" Target="/ppt/notesSlides/notesSlide9.xml" Id="R231b1c46128344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c18b2d6bd4efb" /><Relationship Type="http://schemas.openxmlformats.org/officeDocument/2006/relationships/notesSlide" Target="/ppt/notesSlides/notesSlide10.xml" Id="R70ada9bfa18a49c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1e543e55d4303" /><Relationship Type="http://schemas.openxmlformats.org/officeDocument/2006/relationships/notesSlide" Target="/ppt/notesSlides/notesSlide11.xml" Id="R54264f920e214c2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5a48319be4443" /><Relationship Type="http://schemas.openxmlformats.org/officeDocument/2006/relationships/notesSlide" Target="/ppt/notesSlides/notesSlide12.xml" Id="R90501ff2ed3143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oker Adversarial">
            <a:extLst xmlns:a="http://schemas.openxmlformats.org/drawingml/2006/main">
              <a:ext uri="{FF2B5EF4-FFF2-40B4-BE49-F238E27FC236}">
                <a16:creationId xmlns:a16="http://schemas.microsoft.com/office/drawing/2014/main" id="{6739A509-98EA-4838-BE28-704F1A4B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Poker Adversarial</a:t>
            </a:r>
          </a:p>
        </p:txBody>
      </p:sp>
      <p:sp>
        <p:nvSpPr>
          <p:cNvPr id="2" name="Grupo 7 · Poker Adversarial · 1/12">
            <a:extLst xmlns:a="http://schemas.openxmlformats.org/drawingml/2006/main">
              <a:ext uri="{FF2B5EF4-FFF2-40B4-BE49-F238E27FC236}">
                <a16:creationId xmlns:a16="http://schemas.microsoft.com/office/drawing/2014/main" id="{5E784C1C-85DB-4A46-A8DF-6799C460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1/12</a:t>
            </a:r>
          </a:p>
        </p:txBody>
      </p:sp>
      <p:sp>
        <p:nvSpPr>
          <p:cNvPr id="3" name="Dois agentes decidem com informação parcial">
            <a:extLst xmlns:a="http://schemas.openxmlformats.org/drawingml/2006/main">
              <a:ext uri="{FF2B5EF4-FFF2-40B4-BE49-F238E27FC236}">
                <a16:creationId xmlns:a16="http://schemas.microsoft.com/office/drawing/2014/main" id="{EED01BC1-723C-4407-A029-9910BA58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Dois agentes decidem com informação parcial</a:t>
            </a:r>
          </a:p>
        </p:txBody>
      </p:sp>
      <p:sp>
        <p:nvSpPr>
          <p:cNvPr id="4" name="Trabalho 1 · Engenharia de Software Adversarial">
            <a:extLst xmlns:a="http://schemas.openxmlformats.org/drawingml/2006/main">
              <a:ext uri="{FF2B5EF4-FFF2-40B4-BE49-F238E27FC236}">
                <a16:creationId xmlns:a16="http://schemas.microsoft.com/office/drawing/2014/main" id="{9C532547-F0DB-46EF-B61A-6A8098F6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Trabalho 1 · Engenharia de Software Adversarial</a:t>
            </a:r>
          </a:p>
        </p:txBody>
      </p:sp>
      <p:sp>
        <p:nvSpPr>
          <p:cNvPr id="5" name="Rafael Barboza Torres&#10;Elton Henrique Lunardi Gimenes&#10;Frederico Ma">
            <a:extLst xmlns:a="http://schemas.openxmlformats.org/drawingml/2006/main">
              <a:ext uri="{FF2B5EF4-FFF2-40B4-BE49-F238E27FC236}">
                <a16:creationId xmlns:a16="http://schemas.microsoft.com/office/drawing/2014/main" id="{35C7BDD5-EA6B-4E73-B254-33005E82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Rafael Barboza Torres</a:t>
            </a:r>
          </a:p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Elton Henrique Lunardi Gimenes</a:t>
            </a:r>
          </a:p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Frederico Marques da Silva Barcelos</a:t>
            </a:r>
          </a:p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Diego Santos de Araujo</a:t>
            </a:r>
          </a:p>
        </p:txBody>
      </p:sp>
    </p:spTree>
    <p:extLst>
      <p:ext uri="{BB962C8B-B14F-4D97-AF65-F5344CB8AC3E}">
        <p14:creationId xmlns:p14="http://schemas.microsoft.com/office/powerpoint/2010/main" val="8914501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orte e regras">
            <a:extLst xmlns:a="http://schemas.openxmlformats.org/drawingml/2006/main">
              <a:ext uri="{FF2B5EF4-FFF2-40B4-BE49-F238E27FC236}">
                <a16:creationId xmlns:a16="http://schemas.microsoft.com/office/drawing/2014/main" id="{68527DD5-8F5B-405A-BF3A-64F84A2B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Recorte e regras</a:t>
            </a:r>
          </a:p>
        </p:txBody>
      </p:sp>
      <p:sp>
        <p:nvSpPr>
          <p:cNvPr id="2" name="Grupo 7 · Poker Adversarial · 2/12">
            <a:extLst xmlns:a="http://schemas.openxmlformats.org/drawingml/2006/main">
              <a:ext uri="{FF2B5EF4-FFF2-40B4-BE49-F238E27FC236}">
                <a16:creationId xmlns:a16="http://schemas.microsoft.com/office/drawing/2014/main" id="{1DFA1AE9-3EA8-4FCD-8D59-FF0086B0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2/12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571500" y="1571625"/>
          <a:ext xmlns:a="http://schemas.openxmlformats.org/drawingml/2006/main" cx="11049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7239000"/>
              </a:tblGrid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Interação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Regra do protótipo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Uma mão, dois agentes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Pré-flop, flop, turn e river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Check, bet, call, fold, raise e all-in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Apostas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Blinds 5/10. Raise mínimo e saldo finito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Encerramento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Fold, river ou all-in pago com runout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4" name="All-in pago: devolver excesso e revelar sem novas apostas">
            <a:extLst xmlns:a="http://schemas.openxmlformats.org/drawingml/2006/main">
              <a:ext uri="{FF2B5EF4-FFF2-40B4-BE49-F238E27FC236}">
                <a16:creationId xmlns:a16="http://schemas.microsoft.com/office/drawing/2014/main" id="{5C7AFBCF-A559-44F7-81F2-EF02BBFD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53075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All-in pago: devolver excesso e revelar sem novas apostas</a:t>
            </a:r>
          </a:p>
        </p:txBody>
      </p:sp>
      <p:sp>
        <p:nvSpPr>
          <p:cNvPr id="5" name="A age primeiro no pré-flop. B age primeiro nas etapas seguintes.">
            <a:extLst xmlns:a="http://schemas.openxmlformats.org/drawingml/2006/main">
              <a:ext uri="{FF2B5EF4-FFF2-40B4-BE49-F238E27FC236}">
                <a16:creationId xmlns:a16="http://schemas.microsoft.com/office/drawing/2014/main" id="{44300525-B881-464B-B813-FD4B6B2E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 age primeiro no pré-flop. B age primeiro nas etapas seguintes.</a:t>
            </a:r>
          </a:p>
        </p:txBody>
      </p:sp>
    </p:spTree>
    <p:extLst>
      <p:ext uri="{BB962C8B-B14F-4D97-AF65-F5344CB8AC3E}">
        <p14:creationId xmlns:p14="http://schemas.microsoft.com/office/powerpoint/2010/main" val="12280940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tores e propriedades preservadas">
            <a:extLst xmlns:a="http://schemas.openxmlformats.org/drawingml/2006/main">
              <a:ext uri="{FF2B5EF4-FFF2-40B4-BE49-F238E27FC236}">
                <a16:creationId xmlns:a16="http://schemas.microsoft.com/office/drawing/2014/main" id="{4A77FA7D-9425-4C13-A1D0-D016CF39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Atores e propriedades preservadas</a:t>
            </a:r>
          </a:p>
        </p:txBody>
      </p:sp>
      <p:sp>
        <p:nvSpPr>
          <p:cNvPr id="2" name="Grupo 7 · Poker Adversarial · 3/12">
            <a:extLst xmlns:a="http://schemas.openxmlformats.org/drawingml/2006/main">
              <a:ext uri="{FF2B5EF4-FFF2-40B4-BE49-F238E27FC236}">
                <a16:creationId xmlns:a16="http://schemas.microsoft.com/office/drawing/2014/main" id="{D6954AF9-ED15-4838-A821-FBD0529C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3/12</a:t>
            </a:r>
          </a:p>
        </p:txBody>
      </p:sp>
      <p:sp>
        <p:nvSpPr>
          <p:cNvPr id="3" name="Ações chegam ao motor. Visões filtradas retornam aos agentes.">
            <a:extLst xmlns:a="http://schemas.openxmlformats.org/drawingml/2006/main">
              <a:ext uri="{FF2B5EF4-FFF2-40B4-BE49-F238E27FC236}">
                <a16:creationId xmlns:a16="http://schemas.microsoft.com/office/drawing/2014/main" id="{A8B35D28-D492-41F7-9E9B-FDB5C700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Ações chegam ao motor. Visões filtradas retornam aos agentes.</a:t>
            </a:r>
          </a:p>
        </p:txBody>
      </p:sp>
      <p:sp>
        <p:nvSpPr>
          <p:cNvPr id="4" name="Agente A Ganhar fichas">
            <a:extLst xmlns:a="http://schemas.openxmlformats.org/drawingml/2006/main">
              <a:ext uri="{FF2B5EF4-FFF2-40B4-BE49-F238E27FC236}">
                <a16:creationId xmlns:a16="http://schemas.microsoft.com/office/drawing/2014/main" id="{C6CD197C-B2B6-43C0-8B20-8DF553E3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A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Ganhar fichas</a:t>
            </a:r>
          </a:p>
        </p:txBody>
      </p:sp>
      <p:sp>
        <p:nvSpPr>
          <p:cNvPr id="5" name="Agente B Ganhar fichas">
            <a:extLst xmlns:a="http://schemas.openxmlformats.org/drawingml/2006/main">
              <a:ext uri="{FF2B5EF4-FFF2-40B4-BE49-F238E27FC236}">
                <a16:creationId xmlns:a16="http://schemas.microsoft.com/office/drawing/2014/main" id="{1DFB2A62-2E51-4F44-87EB-4CF55D56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28875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B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Ganhar fichas</a:t>
            </a:r>
          </a:p>
        </p:txBody>
      </p:sp>
      <p:sp>
        <p:nvSpPr>
          <p:cNvPr id="6" name="Motor da mão Pré-flop, river ou runout Valida raise e all-in">
            <a:extLst xmlns:a="http://schemas.openxmlformats.org/drawingml/2006/main">
              <a:ext uri="{FF2B5EF4-FFF2-40B4-BE49-F238E27FC236}">
                <a16:creationId xmlns:a16="http://schemas.microsoft.com/office/drawing/2014/main" id="{C9784493-01E5-43A9-B879-07B7DDF3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Motor da mão</a:t>
            </a:r>
          </a:p>
          <a:p xmlns:a="http://schemas.openxmlformats.org/drawingml/2006/main">
            <a:pPr algn="ctr">
              <a:defRPr sz="180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Pré-flop, river ou runout</a:t>
            </a:r>
          </a:p>
          <a:p xmlns:a="http://schemas.openxmlformats.org/drawingml/2006/main">
            <a:pPr algn="ctr">
              <a:defRPr sz="180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Valida raise e all-in</a:t>
            </a:r>
          </a:p>
        </p:txBody>
      </p:sp>
      <p:sp>
        <p:nvSpPr>
          <p:cNvPr id="7" name="Registro interno Auditoria após a mão">
            <a:extLst xmlns:a="http://schemas.openxmlformats.org/drawingml/2006/main">
              <a:ext uri="{FF2B5EF4-FFF2-40B4-BE49-F238E27FC236}">
                <a16:creationId xmlns:a16="http://schemas.microsoft.com/office/drawing/2014/main" id="{ADA16DD6-D850-44BD-99ED-2AD17695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67250"/>
            <a:ext cx="3048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Registro interno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Auditoria após a mão</a:t>
            </a:r>
          </a:p>
        </p:txBody>
      </p:sp>
      <p:sp>
        <p:nvSpPr>
          <p:cNvPr id="8" name="Operador do grupo Analisa cenário">
            <a:extLst xmlns:a="http://schemas.openxmlformats.org/drawingml/2006/main">
              <a:ext uri="{FF2B5EF4-FFF2-40B4-BE49-F238E27FC236}">
                <a16:creationId xmlns:a16="http://schemas.microsoft.com/office/drawing/2014/main" id="{95A6F9F0-A473-44EA-A907-2BEC78D8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67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6274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Operador do grupo</a:t>
            </a:r>
          </a:p>
          <a:p xmlns:a="http://schemas.openxmlformats.org/drawingml/2006/main">
            <a:pPr algn="ctr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Analisa cenário</a:t>
            </a:r>
          </a:p>
        </p:txBody>
      </p:sp>
      <p:sp>
        <p:nvSpPr>
          <p:cNvPr id="9" name="Preservar integridade, sigilo e progresso">
            <a:extLst xmlns:a="http://schemas.openxmlformats.org/drawingml/2006/main">
              <a:ext uri="{FF2B5EF4-FFF2-40B4-BE49-F238E27FC236}">
                <a16:creationId xmlns:a16="http://schemas.microsoft.com/office/drawing/2014/main" id="{7ACD8EF6-6955-4A60-A92E-8D3FAD42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Preservar integridade,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sigilo e progresso</a:t>
            </a:r>
          </a:p>
        </p:txBody>
      </p:sp>
      <p:cxnSp>
        <p:nvCxnSpPr>
          <p:cNvPr id="24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429000" y="30003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5" idx="1"/>
            <a:endCxn xmlns:a="http://schemas.openxmlformats.org/drawingml/2006/main" id="6" idx="3"/>
          </p:cNvCxnSpPr>
          <p:nvPr/>
        </p:nvCxnSpPr>
        <p:spPr>
          <a:xfrm xmlns:a="http://schemas.openxmlformats.org/drawingml/2006/main" flipH="1">
            <a:off x="7620000" y="30003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37147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20000" y="5143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2000250" y="3714750"/>
            <a:ext cx="40957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9423012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Decisão estática no river">
            <a:extLst xmlns:a="http://schemas.openxmlformats.org/drawingml/2006/main">
              <a:ext uri="{FF2B5EF4-FFF2-40B4-BE49-F238E27FC236}">
                <a16:creationId xmlns:a16="http://schemas.microsoft.com/office/drawing/2014/main" id="{B26D193A-B284-45D0-8D2B-DC8FE975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Decisão estática no river</a:t>
            </a:r>
          </a:p>
        </p:txBody>
      </p:sp>
      <p:sp>
        <p:nvSpPr>
          <p:cNvPr id="2" name="Grupo 7 · Poker Adversarial · 4/12">
            <a:extLst xmlns:a="http://schemas.openxmlformats.org/drawingml/2006/main">
              <a:ext uri="{FF2B5EF4-FFF2-40B4-BE49-F238E27FC236}">
                <a16:creationId xmlns:a16="http://schemas.microsoft.com/office/drawing/2014/main" id="{76268008-410D-4019-94D3-56A1756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4/12</a:t>
            </a:r>
          </a:p>
        </p:txBody>
      </p:sp>
      <p:sp>
        <p:nvSpPr>
          <p:cNvPr id="3" name="Após check de B: pote 80, aposta 20, B vence na revelação">
            <a:extLst xmlns:a="http://schemas.openxmlformats.org/drawingml/2006/main">
              <a:ext uri="{FF2B5EF4-FFF2-40B4-BE49-F238E27FC236}">
                <a16:creationId xmlns:a16="http://schemas.microsoft.com/office/drawing/2014/main" id="{949C8145-29EA-4319-B066-92AD42BF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Após check de B: pote 80, aposta 20, B vence na revelação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2076450"/>
          <a:ext xmlns:a="http://schemas.openxmlformats.org/drawingml/2006/main" cx="11049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43250"/>
                <a:gridCol w="3143250"/>
              </a:tblGrid>
              <a:tr h="82550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 / política de B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B1: pagar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B2: desistir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82550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A1: apostar 20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(0, 3)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(3, 0)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A2: check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(1, 2)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4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(1, 2)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Pares = preferência de A e B. Maior valor = resultado preferido.">
            <a:extLst xmlns:a="http://schemas.openxmlformats.org/drawingml/2006/main">
              <a:ext uri="{FF2B5EF4-FFF2-40B4-BE49-F238E27FC236}">
                <a16:creationId xmlns:a16="http://schemas.microsoft.com/office/drawing/2014/main" id="{18E395E0-C99E-4671-8B37-4572C235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Pares = preferência de A e B. Maior valor = resultado preferido.</a:t>
            </a:r>
          </a:p>
        </p:txBody>
      </p:sp>
      <p:sp>
        <p:nvSpPr>
          <p:cNvPr id="6" name="Call: A perde 20 e B ganha 100. Fold: A ganha 80.">
            <a:extLst xmlns:a="http://schemas.openxmlformats.org/drawingml/2006/main">
              <a:ext uri="{FF2B5EF4-FFF2-40B4-BE49-F238E27FC236}">
                <a16:creationId xmlns:a16="http://schemas.microsoft.com/office/drawing/2014/main" id="{AF289344-F799-45A7-97BB-0C8D8777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Call: A perde 20 e B ganha 100. Fold: A ganha 80.</a:t>
            </a:r>
          </a:p>
        </p:txBody>
      </p:sp>
      <p:sp>
        <p:nvSpPr>
          <p:cNvPr id="7" name="Tabela reduzida sem raise/all-in. Cartas fixadas pelo analista, o">
            <a:extLst xmlns:a="http://schemas.openxmlformats.org/drawingml/2006/main">
              <a:ext uri="{FF2B5EF4-FFF2-40B4-BE49-F238E27FC236}">
                <a16:creationId xmlns:a16="http://schemas.microsoft.com/office/drawing/2014/main" id="{86115313-AA52-490F-96D8-4CB68D78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15025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Tabela reduzida sem raise/all-in. Cartas fixadas pelo analista, ocultas dos agentes.</a:t>
            </a:r>
          </a:p>
        </p:txBody>
      </p:sp>
    </p:spTree>
    <p:extLst>
      <p:ext uri="{BB962C8B-B14F-4D97-AF65-F5344CB8AC3E}">
        <p14:creationId xmlns:p14="http://schemas.microsoft.com/office/powerpoint/2010/main" val="21433527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elhores respostas e equilíbrio">
            <a:extLst xmlns:a="http://schemas.openxmlformats.org/drawingml/2006/main">
              <a:ext uri="{FF2B5EF4-FFF2-40B4-BE49-F238E27FC236}">
                <a16:creationId xmlns:a16="http://schemas.microsoft.com/office/drawing/2014/main" id="{C1C5D64C-8D2D-4300-A210-6E460BF7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Melhores respostas e equilíbrio</a:t>
            </a:r>
          </a:p>
        </p:txBody>
      </p:sp>
      <p:sp>
        <p:nvSpPr>
          <p:cNvPr id="2" name="Grupo 7 · Poker Adversarial · 5/12">
            <a:extLst xmlns:a="http://schemas.openxmlformats.org/drawingml/2006/main">
              <a:ext uri="{FF2B5EF4-FFF2-40B4-BE49-F238E27FC236}">
                <a16:creationId xmlns:a16="http://schemas.microsoft.com/office/drawing/2014/main" id="{D638D6E8-58FF-44DD-A159-4AE86022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5/12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66675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952750"/>
              </a:tblGrid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Escolha fixada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Melhor resposta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B1: pagar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A2: check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B2: desistir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A1: apostar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A1: apostar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B1: pagar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A2: check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B1 ou B2, empate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4" name="A: sem dominante">
            <a:extLst xmlns:a="http://schemas.openxmlformats.org/drawingml/2006/main">
              <a:ext uri="{FF2B5EF4-FFF2-40B4-BE49-F238E27FC236}">
                <a16:creationId xmlns:a16="http://schemas.microsoft.com/office/drawing/2014/main" id="{2771BBD3-93D6-4738-88E6-181983B5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71625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A: sem dominante</a:t>
            </a:r>
          </a:p>
        </p:txBody>
      </p:sp>
      <p:sp>
        <p:nvSpPr>
          <p:cNvPr id="5" name="B1 domina fracamente">
            <a:extLst xmlns:a="http://schemas.openxmlformats.org/drawingml/2006/main">
              <a:ext uri="{FF2B5EF4-FFF2-40B4-BE49-F238E27FC236}">
                <a16:creationId xmlns:a16="http://schemas.microsoft.com/office/drawing/2014/main" id="{0D011983-2A87-46A4-AF83-C859783D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571750"/>
            <a:ext cx="3714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B1 domina fracamente</a:t>
            </a:r>
          </a:p>
        </p:txBody>
      </p:sp>
      <p:sp>
        <p:nvSpPr>
          <p:cNvPr id="6" name="Equilíbrio puro&#10;(A2, B1)">
            <a:extLst xmlns:a="http://schemas.openxmlformats.org/drawingml/2006/main">
              <a:ext uri="{FF2B5EF4-FFF2-40B4-BE49-F238E27FC236}">
                <a16:creationId xmlns:a16="http://schemas.microsoft.com/office/drawing/2014/main" id="{FE86E0D7-6B25-4E1C-BE21-062B8ED5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0050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Equilíbrio puro</a:t>
            </a:r>
          </a:p>
          <a:p xmlns:a="http://schemas.openxmlformats.org/drawingml/2006/main">
            <a:pPr algn="l">
              <a:defRPr sz="28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(A2, B1)</a:t>
            </a:r>
          </a:p>
        </p:txBody>
      </p:sp>
      <p:sp>
        <p:nvSpPr>
          <p:cNvPr id="7" name="Equilíbrio da tabela retrospectiva. Sigilo e justiça dependem tam">
            <a:extLst xmlns:a="http://schemas.openxmlformats.org/drawingml/2006/main">
              <a:ext uri="{FF2B5EF4-FFF2-40B4-BE49-F238E27FC236}">
                <a16:creationId xmlns:a16="http://schemas.microsoft.com/office/drawing/2014/main" id="{E4B50F0C-622A-4B8A-B365-4ABEB85F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Equilíbrio da tabela retrospectiva. Sigilo e justiça dependem também dos controles.</a:t>
            </a:r>
          </a:p>
        </p:txBody>
      </p:sp>
    </p:spTree>
    <p:extLst>
      <p:ext uri="{BB962C8B-B14F-4D97-AF65-F5344CB8AC3E}">
        <p14:creationId xmlns:p14="http://schemas.microsoft.com/office/powerpoint/2010/main" val="15365490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Quatro etapas e adaptação">
            <a:extLst xmlns:a="http://schemas.openxmlformats.org/drawingml/2006/main">
              <a:ext uri="{FF2B5EF4-FFF2-40B4-BE49-F238E27FC236}">
                <a16:creationId xmlns:a16="http://schemas.microsoft.com/office/drawing/2014/main" id="{28AAEFA1-0B37-4621-B6C8-2113C2AE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Quatro etapas e adaptação</a:t>
            </a:r>
          </a:p>
        </p:txBody>
      </p:sp>
      <p:sp>
        <p:nvSpPr>
          <p:cNvPr id="2" name="Grupo 7 · Poker Adversarial · 6/12">
            <a:extLst xmlns:a="http://schemas.openxmlformats.org/drawingml/2006/main">
              <a:ext uri="{FF2B5EF4-FFF2-40B4-BE49-F238E27FC236}">
                <a16:creationId xmlns:a16="http://schemas.microsoft.com/office/drawing/2014/main" id="{E9743E39-B7AC-4160-8B9B-9F217358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6/12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71500" y="1409700"/>
          <a:ext xmlns:a="http://schemas.openxmlformats.org/drawingml/2006/main" cx="11049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4191000"/>
                <a:gridCol w="5334000"/>
              </a:tblGrid>
              <a:tr h="6286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Etapa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Ação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Mudança observada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Pré-flop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raise 20 / B call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mantém teste. B prepara raise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Flop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 check / A bet 10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 raise 20 / A call +10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recua. B muda para indução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Turn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 check / A check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lê fraqueza. B mantém indução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River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 check / A bet 20 / B call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 erra a leitura. B vence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4" name="A: 7♣ 2♦    B: A♥ A♦    Mesa: A♠ 9♥ 4♣ K♣ 3♦">
            <a:extLst xmlns:a="http://schemas.openxmlformats.org/drawingml/2006/main">
              <a:ext uri="{FF2B5EF4-FFF2-40B4-BE49-F238E27FC236}">
                <a16:creationId xmlns:a16="http://schemas.microsoft.com/office/drawing/2014/main" id="{237BE957-AF98-4A86-BAE2-3064D15E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A: 7♣ 2♦    B: A♥ A♦    Mesa: A♠ 9♥ 4♣ K♣ 3♦</a:t>
            </a:r>
          </a:p>
        </p:txBody>
      </p:sp>
      <p:sp>
        <p:nvSpPr>
          <p:cNvPr id="5" name="Final: A 50, B 170. Total conservado: 220 fichas.">
            <a:extLst xmlns:a="http://schemas.openxmlformats.org/drawingml/2006/main">
              <a:ext uri="{FF2B5EF4-FFF2-40B4-BE49-F238E27FC236}">
                <a16:creationId xmlns:a16="http://schemas.microsoft.com/office/drawing/2014/main" id="{71D73DAC-4CF8-4BFB-A168-F8588D56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Final: A 50, B 170. Total conservado: 220 fichas.</a:t>
            </a:r>
          </a:p>
        </p:txBody>
      </p:sp>
      <p:sp>
        <p:nvSpPr>
          <p:cNvPr id="6" name="All-in pré-flop alternativo: fold 120/100, call 0/220">
            <a:extLst xmlns:a="http://schemas.openxmlformats.org/drawingml/2006/main">
              <a:ext uri="{FF2B5EF4-FFF2-40B4-BE49-F238E27FC236}">
                <a16:creationId xmlns:a16="http://schemas.microsoft.com/office/drawing/2014/main" id="{56A1DF8D-1006-496D-9EC8-B95DC812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All-in pré-flop alternativo: fold 120/100, call 0/220</a:t>
            </a:r>
          </a:p>
        </p:txBody>
      </p:sp>
      <p:sp>
        <p:nvSpPr>
          <p:cNvPr id="7" name="Cenários manuais. No all-in pago, a mesa abre sem novas decisões ">
            <a:extLst xmlns:a="http://schemas.openxmlformats.org/drawingml/2006/main">
              <a:ext uri="{FF2B5EF4-FFF2-40B4-BE49-F238E27FC236}">
                <a16:creationId xmlns:a16="http://schemas.microsoft.com/office/drawing/2014/main" id="{07DA28A2-B8EE-4901-846F-7CAAA686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Cenários manuais. No all-in pago, a mesa abre sem novas decisões de aposta.</a:t>
            </a:r>
          </a:p>
        </p:txBody>
      </p:sp>
    </p:spTree>
    <p:extLst>
      <p:ext uri="{BB962C8B-B14F-4D97-AF65-F5344CB8AC3E}">
        <p14:creationId xmlns:p14="http://schemas.microsoft.com/office/powerpoint/2010/main" val="13689074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uperfície de ataque">
            <a:extLst xmlns:a="http://schemas.openxmlformats.org/drawingml/2006/main">
              <a:ext uri="{FF2B5EF4-FFF2-40B4-BE49-F238E27FC236}">
                <a16:creationId xmlns:a16="http://schemas.microsoft.com/office/drawing/2014/main" id="{E44DF9E7-0AB6-4D6B-AA55-97D4E07C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Superfície de ataque</a:t>
            </a:r>
          </a:p>
        </p:txBody>
      </p:sp>
      <p:sp>
        <p:nvSpPr>
          <p:cNvPr id="2" name="Grupo 7 · Poker Adversarial · 7/12">
            <a:extLst xmlns:a="http://schemas.openxmlformats.org/drawingml/2006/main">
              <a:ext uri="{FF2B5EF4-FFF2-40B4-BE49-F238E27FC236}">
                <a16:creationId xmlns:a16="http://schemas.microsoft.com/office/drawing/2014/main" id="{235D8FCE-1BBB-42F3-BE91-EF158FCF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7/12</a:t>
            </a:r>
          </a:p>
        </p:txBody>
      </p:sp>
      <p:sp>
        <p:nvSpPr>
          <p:cNvPr id="3" name="Módulo adversarial">
            <a:extLst xmlns:a="http://schemas.openxmlformats.org/drawingml/2006/main">
              <a:ext uri="{FF2B5EF4-FFF2-40B4-BE49-F238E27FC236}">
                <a16:creationId xmlns:a16="http://schemas.microsoft.com/office/drawing/2014/main" id="{7C895B03-56A1-4043-A81A-428B29C0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2524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Módulo adversarial</a:t>
            </a:r>
          </a:p>
        </p:txBody>
      </p:sp>
      <p:sp>
        <p:nvSpPr>
          <p:cNvPr id="4" name="T1: visão e histórico Campo privado sem filtro Falha de P1">
            <a:extLst xmlns:a="http://schemas.openxmlformats.org/drawingml/2006/main">
              <a:ext uri="{FF2B5EF4-FFF2-40B4-BE49-F238E27FC236}">
                <a16:creationId xmlns:a16="http://schemas.microsoft.com/office/drawing/2014/main" id="{7BAEAD23-06CF-4F4B-B945-7345EB48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7637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T1: visão e histórico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Campo privado sem filtro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P1</a:t>
            </a:r>
          </a:p>
        </p:txBody>
      </p:sp>
      <p:sp>
        <p:nvSpPr>
          <p:cNvPr id="5" name="T2: entrada de ações Raise, call ou devolução inválidos Falha de P2">
            <a:extLst xmlns:a="http://schemas.openxmlformats.org/drawingml/2006/main">
              <a:ext uri="{FF2B5EF4-FFF2-40B4-BE49-F238E27FC236}">
                <a16:creationId xmlns:a16="http://schemas.microsoft.com/office/drawing/2014/main" id="{29A9A203-0BE0-42BD-BBE3-3D3FE188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9562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T2: entrada de ações</a:t>
            </a:r>
          </a:p>
          <a:p xmlns:a="http://schemas.openxmlformats.org/drawingml/2006/main">
            <a:pPr algn="ctr">
              <a:defRPr sz="165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Raise, call ou devolução inválidos</a:t>
            </a:r>
          </a:p>
          <a:p xmlns:a="http://schemas.openxmlformats.org/drawingml/2006/main">
            <a:pPr algn="ctr">
              <a:defRPr sz="165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P2</a:t>
            </a:r>
          </a:p>
        </p:txBody>
      </p:sp>
      <p:sp>
        <p:nvSpPr>
          <p:cNvPr id="6" name="T3: executor Decisão sem limite Falha de P3">
            <a:extLst xmlns:a="http://schemas.openxmlformats.org/drawingml/2006/main">
              <a:ext uri="{FF2B5EF4-FFF2-40B4-BE49-F238E27FC236}">
                <a16:creationId xmlns:a16="http://schemas.microsoft.com/office/drawing/2014/main" id="{A7FEF7F8-C6DB-4554-A6ED-ABD5AD95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1487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T3: executor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Decisão sem limite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P3</a:t>
            </a:r>
          </a:p>
        </p:txBody>
      </p:sp>
      <p:sp>
        <p:nvSpPr>
          <p:cNvPr id="7" name="Sigilo e justiça Risco 9">
            <a:extLst xmlns:a="http://schemas.openxmlformats.org/drawingml/2006/main">
              <a:ext uri="{FF2B5EF4-FFF2-40B4-BE49-F238E27FC236}">
                <a16:creationId xmlns:a16="http://schemas.microsoft.com/office/drawing/2014/main" id="{253E76E6-0EA0-470B-A3E8-B0772159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Sigilo e justiça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9</a:t>
            </a:r>
          </a:p>
        </p:txBody>
      </p:sp>
      <p:sp>
        <p:nvSpPr>
          <p:cNvPr id="8" name="Integridade e fichas Risco 9">
            <a:extLst xmlns:a="http://schemas.openxmlformats.org/drawingml/2006/main">
              <a:ext uri="{FF2B5EF4-FFF2-40B4-BE49-F238E27FC236}">
                <a16:creationId xmlns:a16="http://schemas.microsoft.com/office/drawing/2014/main" id="{D504BDD3-3411-4F86-9C81-AEB9E15A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28612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Integridade e fichas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9</a:t>
            </a:r>
          </a:p>
        </p:txBody>
      </p:sp>
      <p:sp>
        <p:nvSpPr>
          <p:cNvPr id="9" name="Progresso Risco 6">
            <a:extLst xmlns:a="http://schemas.openxmlformats.org/drawingml/2006/main">
              <a:ext uri="{FF2B5EF4-FFF2-40B4-BE49-F238E27FC236}">
                <a16:creationId xmlns:a16="http://schemas.microsoft.com/office/drawing/2014/main" id="{129A74F4-7586-49FD-9B87-706F5338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90537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Progresso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6</a:t>
            </a:r>
          </a:p>
        </p:txBody>
      </p:sp>
      <p:cxnSp>
        <p:nvCxnSpPr>
          <p:cNvPr id="2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3095625" y="2000250"/>
            <a:ext cx="1285875" cy="1438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95625" y="3438525"/>
            <a:ext cx="1285875" cy="180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95625" y="3438525"/>
            <a:ext cx="1285875" cy="1800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810500" y="20002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10500" y="361950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810500" y="52387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16" name="C1: filtrar saídas">
            <a:extLst xmlns:a="http://schemas.openxmlformats.org/drawingml/2006/main">
              <a:ext uri="{FF2B5EF4-FFF2-40B4-BE49-F238E27FC236}">
                <a16:creationId xmlns:a16="http://schemas.microsoft.com/office/drawing/2014/main" id="{E3B928B9-22A3-4455-8863-039A4DAC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C1: filtrar saídas</a:t>
            </a:r>
          </a:p>
        </p:txBody>
      </p:sp>
      <p:sp>
        <p:nvSpPr>
          <p:cNvPr id="17" name="C2/C3: validar fichas e aplicar uma vez">
            <a:extLst xmlns:a="http://schemas.openxmlformats.org/drawingml/2006/main">
              <a:ext uri="{FF2B5EF4-FFF2-40B4-BE49-F238E27FC236}">
                <a16:creationId xmlns:a16="http://schemas.microsoft.com/office/drawing/2014/main" id="{7561E733-94FD-43DD-8ECC-92660722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481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C2/C3: validar fichas e aplicar uma vez</a:t>
            </a:r>
          </a:p>
        </p:txBody>
      </p:sp>
      <p:sp>
        <p:nvSpPr>
          <p:cNvPr id="18" name="C4: orçamento e ação padrão">
            <a:extLst xmlns:a="http://schemas.openxmlformats.org/drawingml/2006/main">
              <a:ext uri="{FF2B5EF4-FFF2-40B4-BE49-F238E27FC236}">
                <a16:creationId xmlns:a16="http://schemas.microsoft.com/office/drawing/2014/main" id="{92A605C0-0502-417C-A8E9-7E02E662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67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C4: orçamento e ação padrão</a:t>
            </a:r>
          </a:p>
        </p:txBody>
      </p:sp>
    </p:spTree>
    <p:extLst>
      <p:ext uri="{BB962C8B-B14F-4D97-AF65-F5344CB8AC3E}">
        <p14:creationId xmlns:p14="http://schemas.microsoft.com/office/powerpoint/2010/main" val="491582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enários e avaliação dos riscos">
            <a:extLst xmlns:a="http://schemas.openxmlformats.org/drawingml/2006/main">
              <a:ext uri="{FF2B5EF4-FFF2-40B4-BE49-F238E27FC236}">
                <a16:creationId xmlns:a16="http://schemas.microsoft.com/office/drawing/2014/main" id="{3D7BE038-4AB0-4713-AE99-361357C6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Cenários e avaliação dos riscos</a:t>
            </a:r>
          </a:p>
        </p:txBody>
      </p:sp>
      <p:sp>
        <p:nvSpPr>
          <p:cNvPr id="2" name="Grupo 7 · Poker Adversarial · 8/12">
            <a:extLst xmlns:a="http://schemas.openxmlformats.org/drawingml/2006/main">
              <a:ext uri="{FF2B5EF4-FFF2-40B4-BE49-F238E27FC236}">
                <a16:creationId xmlns:a16="http://schemas.microsoft.com/office/drawing/2014/main" id="{E8924BD9-8D6B-4175-AB2E-FE0AC22F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8/12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028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00125"/>
                <a:gridCol w="6191250"/>
                <a:gridCol w="952500"/>
                <a:gridCol w="952500"/>
                <a:gridCol w="1952625"/>
              </a:tblGrid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Cenário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Risco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T1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Cartas privadas expostas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T2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Ação ilegal altera estado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757238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Decisão bloqueia a mão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17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 = sucesso da tentativa, supondo a fraqueza presente">
            <a:extLst xmlns:a="http://schemas.openxmlformats.org/drawingml/2006/main">
              <a:ext uri="{FF2B5EF4-FFF2-40B4-BE49-F238E27FC236}">
                <a16:creationId xmlns:a16="http://schemas.microsoft.com/office/drawing/2014/main" id="{58EA5865-92AA-40F9-AF4E-1AE24B38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720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P = sucesso da tentativa, supondo a fraqueza presente</a:t>
            </a:r>
          </a:p>
        </p:txBody>
      </p:sp>
      <p:sp>
        <p:nvSpPr>
          <p:cNvPr id="5" name="Leitura, ação inválida e bloqueio são diretos sem os controles.">
            <a:extLst xmlns:a="http://schemas.openxmlformats.org/drawingml/2006/main">
              <a:ext uri="{FF2B5EF4-FFF2-40B4-BE49-F238E27FC236}">
                <a16:creationId xmlns:a16="http://schemas.microsoft.com/office/drawing/2014/main" id="{F0F69C93-1F42-4FF1-A02A-641D4AE7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Leitura, ação inválida e bloqueio são diretos sem os controles.</a:t>
            </a:r>
          </a:p>
        </p:txBody>
      </p:sp>
      <p:sp>
        <p:nvSpPr>
          <p:cNvPr id="6" name="Impacto: T1/T2 invalidam justiça. T3 interrompe o progresso.">
            <a:extLst xmlns:a="http://schemas.openxmlformats.org/drawingml/2006/main">
              <a:ext uri="{FF2B5EF4-FFF2-40B4-BE49-F238E27FC236}">
                <a16:creationId xmlns:a16="http://schemas.microsoft.com/office/drawing/2014/main" id="{7EF81933-48E8-4C0D-8763-2D3A15EB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262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Impacto: T1/T2 invalidam justiça. T3 interrompe o progresso.</a:t>
            </a:r>
          </a:p>
        </p:txBody>
      </p:sp>
    </p:spTree>
    <p:extLst>
      <p:ext uri="{BB962C8B-B14F-4D97-AF65-F5344CB8AC3E}">
        <p14:creationId xmlns:p14="http://schemas.microsoft.com/office/powerpoint/2010/main" val="17204462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rioridade e próxima adaptação">
            <a:extLst xmlns:a="http://schemas.openxmlformats.org/drawingml/2006/main">
              <a:ext uri="{FF2B5EF4-FFF2-40B4-BE49-F238E27FC236}">
                <a16:creationId xmlns:a16="http://schemas.microsoft.com/office/drawing/2014/main" id="{ED2A4493-D3B3-4F87-AD6B-6FF9C3F6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Prioridade e próxima adaptação</a:t>
            </a:r>
          </a:p>
        </p:txBody>
      </p:sp>
      <p:sp>
        <p:nvSpPr>
          <p:cNvPr id="2" name="Grupo 7 · Poker Adversarial · 9/12">
            <a:extLst xmlns:a="http://schemas.openxmlformats.org/drawingml/2006/main">
              <a:ext uri="{FF2B5EF4-FFF2-40B4-BE49-F238E27FC236}">
                <a16:creationId xmlns:a16="http://schemas.microsoft.com/office/drawing/2014/main" id="{DDA4B219-A17E-4659-B19B-758D6CA2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9/12</a:t>
            </a:r>
          </a:p>
        </p:txBody>
      </p:sp>
      <p:sp>
        <p:nvSpPr>
          <p:cNvPr id="3" name="T1 e T2 empatam em 9. A informação exposta não pode ser esquecida">
            <a:extLst xmlns:a="http://schemas.openxmlformats.org/drawingml/2006/main">
              <a:ext uri="{FF2B5EF4-FFF2-40B4-BE49-F238E27FC236}">
                <a16:creationId xmlns:a16="http://schemas.microsoft.com/office/drawing/2014/main" id="{5E22645F-D2FB-4596-AB07-577AEB4D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T1 e T2 empatam em 9. A informação exposta não pode ser esquecida.</a:t>
            </a:r>
          </a:p>
        </p:txBody>
      </p:sp>
      <p:sp>
        <p:nvSpPr>
          <p:cNvPr id="4" name="Consulta campo privado">
            <a:extLst xmlns:a="http://schemas.openxmlformats.org/drawingml/2006/main">
              <a:ext uri="{FF2B5EF4-FFF2-40B4-BE49-F238E27FC236}">
                <a16:creationId xmlns:a16="http://schemas.microsoft.com/office/drawing/2014/main" id="{63CC6E9C-4F92-480B-B684-AAAAF3E7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Consulta campo privado</a:t>
            </a:r>
          </a:p>
        </p:txBody>
      </p:sp>
      <p:sp>
        <p:nvSpPr>
          <p:cNvPr id="5" name="Recebe visão filtrada">
            <a:extLst xmlns:a="http://schemas.openxmlformats.org/drawingml/2006/main">
              <a:ext uri="{FF2B5EF4-FFF2-40B4-BE49-F238E27FC236}">
                <a16:creationId xmlns:a16="http://schemas.microsoft.com/office/drawing/2014/main" id="{C3A4B6B8-E033-4AA2-AA9C-5A44B907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Recebe visão filtrada</a:t>
            </a:r>
          </a:p>
        </p:txBody>
      </p:sp>
      <p:sp>
        <p:nvSpPr>
          <p:cNvPr id="6" name="Procura no histórico">
            <a:extLst xmlns:a="http://schemas.openxmlformats.org/drawingml/2006/main">
              <a:ext uri="{FF2B5EF4-FFF2-40B4-BE49-F238E27FC236}">
                <a16:creationId xmlns:a16="http://schemas.microsoft.com/office/drawing/2014/main" id="{7C8ABE0D-D994-4B77-8745-0B9E835E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717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Procura no histórico</a:t>
            </a:r>
          </a:p>
        </p:txBody>
      </p:sp>
      <p:sp>
        <p:nvSpPr>
          <p:cNvPr id="7" name="Histórico também filtrado">
            <a:extLst xmlns:a="http://schemas.openxmlformats.org/drawingml/2006/main">
              <a:ext uri="{FF2B5EF4-FFF2-40B4-BE49-F238E27FC236}">
                <a16:creationId xmlns:a16="http://schemas.microsoft.com/office/drawing/2014/main" id="{AA374612-16D0-4A86-A50D-11C9B181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67200"/>
            <a:ext cx="3333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Histórico também filtrado</a:t>
            </a:r>
          </a:p>
        </p:txBody>
      </p: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429000" y="30099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334250" y="30099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2" name=""/>
          <p:cNvCxnSpPr>
            <a:stCxn xmlns:a="http://schemas.openxmlformats.org/drawingml/2006/main" id="6" idx="2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810500" y="3448050"/>
            <a:ext cx="2143125" cy="1257300"/>
          </a:xfrm>
          <a:prstGeom xmlns:a="http://schemas.openxmlformats.org/drawingml/2006/main" prst="bentConnector5">
            <a:avLst>
              <a:gd name="adj1" fmla="val 0"/>
              <a:gd name="adj2" fmla="val 18182"/>
              <a:gd name="adj3" fmla="val 89333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11" name="Custo: filtro pode omitir informação pública necessária.">
            <a:extLst xmlns:a="http://schemas.openxmlformats.org/drawingml/2006/main">
              <a:ext uri="{FF2B5EF4-FFF2-40B4-BE49-F238E27FC236}">
                <a16:creationId xmlns:a16="http://schemas.microsoft.com/office/drawing/2014/main" id="{FF11DEA2-C3FF-4B75-A1DD-3A2D4835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592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Custo: filtro pode omitir informação pública necessária.</a:t>
            </a:r>
          </a:p>
        </p:txBody>
      </p:sp>
      <p:sp>
        <p:nvSpPr>
          <p:cNvPr id="12" name="Risco residual: outro canal pode expor dados. Sequência hipotétic">
            <a:extLst xmlns:a="http://schemas.openxmlformats.org/drawingml/2006/main">
              <a:ext uri="{FF2B5EF4-FFF2-40B4-BE49-F238E27FC236}">
                <a16:creationId xmlns:a16="http://schemas.microsoft.com/office/drawing/2014/main" id="{1EFF8C75-02EF-4D57-B8F3-2D918B6B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Risco residual: outro canal pode expor dados. Sequência hipotética.</a:t>
            </a:r>
          </a:p>
        </p:txBody>
      </p:sp>
    </p:spTree>
    <p:extLst>
      <p:ext uri="{BB962C8B-B14F-4D97-AF65-F5344CB8AC3E}">
        <p14:creationId xmlns:p14="http://schemas.microsoft.com/office/powerpoint/2010/main" val="7550954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desenho e custos">
            <a:extLst xmlns:a="http://schemas.openxmlformats.org/drawingml/2006/main">
              <a:ext uri="{FF2B5EF4-FFF2-40B4-BE49-F238E27FC236}">
                <a16:creationId xmlns:a16="http://schemas.microsoft.com/office/drawing/2014/main" id="{DB716ABB-F3B2-4F12-8C61-5ACC22B7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Redesenho e custos</a:t>
            </a:r>
          </a:p>
        </p:txBody>
      </p:sp>
      <p:sp>
        <p:nvSpPr>
          <p:cNvPr id="2" name="Grupo 7 · Poker Adversarial · 10/12">
            <a:extLst xmlns:a="http://schemas.openxmlformats.org/drawingml/2006/main">
              <a:ext uri="{FF2B5EF4-FFF2-40B4-BE49-F238E27FC236}">
                <a16:creationId xmlns:a16="http://schemas.microsoft.com/office/drawing/2014/main" id="{5347C417-E905-425C-AAFD-D060FDD8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10/12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571500" y="1457325"/>
          <a:ext xmlns:a="http://schemas.openxmlformats.org/drawingml/2006/main" cx="11049000" cy="3295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3238500"/>
                <a:gridCol w="4095750"/>
              </a:tblGrid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Controle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Reação possível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 legítimo</a:t>
                      </a:r>
                    </a:p>
                  </a:txBody>
                  <a:tcPr marL="142875" marR="114300" marT="114300" marB="95250" anchor="ctr">
                    <a:solidFill>
                      <a:srgbClr val="143042"/>
                    </a:solidFill>
                  </a:tcPr>
                </a:tc>
              </a:tr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Filtrar visão e histórico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Buscar outra saída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Omitir dado público por erro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Validar e aplicar uma vez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Testar fronteiras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Rejeitar ação válida por erro</a:t>
                      </a:r>
                    </a:p>
                  </a:txBody>
                  <a:tcPr marL="142875" marR="114300" marT="114300" marB="95250" anchor="ctr">
                    <a:solidFill>
                      <a:srgbClr val="F8FAFB"/>
                    </a:solidFill>
                  </a:tcPr>
                </a:tc>
              </a:tr>
              <a:tr h="823913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Orçamento de decisão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Responder perto do limite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143042"/>
                          </a:solidFill>
                          <a:latin typeface="Arial"/>
                          <a:ea typeface="Arial"/>
                          <a:cs typeface="Arial"/>
                        </a:rPr>
                        <a:t>Fold automático de agente lento</a:t>
                      </a:r>
                    </a:p>
                  </a:txBody>
                  <a:tcPr marL="142875" marR="11430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Ação padrão: check quando legal, fold diante de aposta pendente.">
            <a:extLst xmlns:a="http://schemas.openxmlformats.org/drawingml/2006/main">
              <a:ext uri="{FF2B5EF4-FFF2-40B4-BE49-F238E27FC236}">
                <a16:creationId xmlns:a16="http://schemas.microsoft.com/office/drawing/2014/main" id="{EEC8EA07-129C-4124-BED4-192334A5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577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Ação padrão: check quando legal, fold diante de aposta pendente.</a:t>
            </a:r>
          </a:p>
        </p:txBody>
      </p:sp>
      <p:sp>
        <p:nvSpPr>
          <p:cNvPr id="5" name="Auditoria e invariantes ajudam a detectar falhas. O risco residua">
            <a:extLst xmlns:a="http://schemas.openxmlformats.org/drawingml/2006/main">
              <a:ext uri="{FF2B5EF4-FFF2-40B4-BE49-F238E27FC236}">
                <a16:creationId xmlns:a16="http://schemas.microsoft.com/office/drawing/2014/main" id="{86DC25DB-6EDF-4160-A787-A056FE01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Auditoria e invariantes ajudam a detectar falhas. O risco residual permanece.</a:t>
            </a:r>
          </a:p>
        </p:txBody>
      </p:sp>
    </p:spTree>
    <p:extLst>
      <p:ext uri="{BB962C8B-B14F-4D97-AF65-F5344CB8AC3E}">
        <p14:creationId xmlns:p14="http://schemas.microsoft.com/office/powerpoint/2010/main" val="7704808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rquitetura para o Trabalho 2">
            <a:extLst xmlns:a="http://schemas.openxmlformats.org/drawingml/2006/main">
              <a:ext uri="{FF2B5EF4-FFF2-40B4-BE49-F238E27FC236}">
                <a16:creationId xmlns:a16="http://schemas.microsoft.com/office/drawing/2014/main" id="{2B261291-AFC2-4BB3-B74E-6451E78E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Arquitetura para o Trabalho 2</a:t>
            </a:r>
          </a:p>
        </p:txBody>
      </p:sp>
      <p:sp>
        <p:nvSpPr>
          <p:cNvPr id="2" name="Grupo 7 · Poker Adversarial · 11/12">
            <a:extLst xmlns:a="http://schemas.openxmlformats.org/drawingml/2006/main">
              <a:ext uri="{FF2B5EF4-FFF2-40B4-BE49-F238E27FC236}">
                <a16:creationId xmlns:a16="http://schemas.microsoft.com/office/drawing/2014/main" id="{677E4621-77AC-4DAD-B473-2EB15AE6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11/12</a:t>
            </a:r>
          </a:p>
        </p:txBody>
      </p:sp>
      <p:sp>
        <p:nvSpPr>
          <p:cNvPr id="3" name="Motor e estado">
            <a:extLst xmlns:a="http://schemas.openxmlformats.org/drawingml/2006/main">
              <a:ext uri="{FF2B5EF4-FFF2-40B4-BE49-F238E27FC236}">
                <a16:creationId xmlns:a16="http://schemas.microsoft.com/office/drawing/2014/main" id="{234C62EA-0793-4E78-B8C6-A94A9333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2524125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Motor e estado</a:t>
            </a:r>
          </a:p>
        </p:txBody>
      </p:sp>
      <p:sp>
        <p:nvSpPr>
          <p:cNvPr id="4" name="Visão filtrada">
            <a:extLst xmlns:a="http://schemas.openxmlformats.org/drawingml/2006/main">
              <a:ext uri="{FF2B5EF4-FFF2-40B4-BE49-F238E27FC236}">
                <a16:creationId xmlns:a16="http://schemas.microsoft.com/office/drawing/2014/main" id="{5501ADF6-F6B2-4E9D-8BA3-D32AF396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76400"/>
            <a:ext cx="25717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Visão filtrada</a:t>
            </a:r>
          </a:p>
        </p:txBody>
      </p:sp>
      <p:sp>
        <p:nvSpPr>
          <p:cNvPr id="5" name="Agente e executor">
            <a:extLst xmlns:a="http://schemas.openxmlformats.org/drawingml/2006/main">
              <a:ext uri="{FF2B5EF4-FFF2-40B4-BE49-F238E27FC236}">
                <a16:creationId xmlns:a16="http://schemas.microsoft.com/office/drawing/2014/main" id="{17CDFACB-FFBF-44E7-AA40-EFEC25B8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2385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e executor</a:t>
            </a:r>
          </a:p>
        </p:txBody>
      </p:sp>
      <p:sp>
        <p:nvSpPr>
          <p:cNvPr id="6" name="Validação">
            <a:extLst xmlns:a="http://schemas.openxmlformats.org/drawingml/2006/main">
              <a:ext uri="{FF2B5EF4-FFF2-40B4-BE49-F238E27FC236}">
                <a16:creationId xmlns:a16="http://schemas.microsoft.com/office/drawing/2014/main" id="{FD124136-D67F-4BA6-B14E-20C51829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32385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7" name="Atualização e registro">
            <a:extLst xmlns:a="http://schemas.openxmlformats.org/drawingml/2006/main">
              <a:ext uri="{FF2B5EF4-FFF2-40B4-BE49-F238E27FC236}">
                <a16:creationId xmlns:a16="http://schemas.microsoft.com/office/drawing/2014/main" id="{0ADDCB0E-A79D-47BD-94CB-AB15E33A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33750"/>
            <a:ext cx="25717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Atualização e registro</a:t>
            </a:r>
          </a:p>
        </p:txBody>
      </p:sp>
      <p:cxnSp>
        <p:nvCxnSpPr>
          <p:cNvPr id="24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095625" y="2090738"/>
            <a:ext cx="1190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6858000" y="2090738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715500" y="2505075"/>
            <a:ext cx="0" cy="828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6858000" y="3748088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1"/>
            <a:endCxn xmlns:a="http://schemas.openxmlformats.org/drawingml/2006/main" id="3" idx="2"/>
          </p:cNvCxnSpPr>
          <p:nvPr/>
        </p:nvCxnSpPr>
        <p:spPr>
          <a:xfrm xmlns:a="http://schemas.openxmlformats.org/drawingml/2006/main" flipH="1" flipV="1">
            <a:off x="1833563" y="2505075"/>
            <a:ext cx="2452688" cy="1243013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13" name="Critérios: 220 fichas, visões autorizadas e ações aplicadas uma v">
            <a:extLst xmlns:a="http://schemas.openxmlformats.org/drawingml/2006/main">
              <a:ext uri="{FF2B5EF4-FFF2-40B4-BE49-F238E27FC236}">
                <a16:creationId xmlns:a16="http://schemas.microsoft.com/office/drawing/2014/main" id="{3D03A2C4-3641-453C-A0D8-75E98054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720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Critérios: 220 fichas, visões autorizadas e ações aplicadas uma vez.</a:t>
            </a:r>
          </a:p>
        </p:txBody>
      </p:sp>
      <p:sp>
        <p:nvSpPr>
          <p:cNvPr id="14" name="Estado: contribuição por etapa, valor a pagar e aumento mínimo.">
            <a:extLst xmlns:a="http://schemas.openxmlformats.org/drawingml/2006/main">
              <a:ext uri="{FF2B5EF4-FFF2-40B4-BE49-F238E27FC236}">
                <a16:creationId xmlns:a16="http://schemas.microsoft.com/office/drawing/2014/main" id="{95C766FC-49F7-4E15-BB26-D7BE017C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Estado: contribuição por etapa, valor a pagar e aumento mínimo.</a:t>
            </a:r>
          </a:p>
        </p:txBody>
      </p:sp>
      <p:sp>
        <p:nvSpPr>
          <p:cNvPr id="15" name="Registro privado: observação, mudança de política e custo.">
            <a:extLst xmlns:a="http://schemas.openxmlformats.org/drawingml/2006/main">
              <a:ext uri="{FF2B5EF4-FFF2-40B4-BE49-F238E27FC236}">
                <a16:creationId xmlns:a16="http://schemas.microsoft.com/office/drawing/2014/main" id="{B2A6E3E1-686F-4432-8392-3673A769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Registro privado: observação, mudança de política e custo.</a:t>
            </a:r>
          </a:p>
        </p:txBody>
      </p:sp>
      <p:sp>
        <p:nvSpPr>
          <p:cNvPr id="16" name="Planejamento de implementação. Critérios ainda não testados em mo">
            <a:extLst xmlns:a="http://schemas.openxmlformats.org/drawingml/2006/main">
              <a:ext uri="{FF2B5EF4-FFF2-40B4-BE49-F238E27FC236}">
                <a16:creationId xmlns:a16="http://schemas.microsoft.com/office/drawing/2014/main" id="{C2D91753-364F-415A-B68C-135D59DD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Planejamento de implementação. Critérios ainda não testados em motor funcional.</a:t>
            </a:r>
          </a:p>
        </p:txBody>
      </p:sp>
    </p:spTree>
    <p:extLst>
      <p:ext uri="{BB962C8B-B14F-4D97-AF65-F5344CB8AC3E}">
        <p14:creationId xmlns:p14="http://schemas.microsoft.com/office/powerpoint/2010/main" val="15236095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prendizado e propriedades preservadas">
            <a:extLst xmlns:a="http://schemas.openxmlformats.org/drawingml/2006/main">
              <a:ext uri="{FF2B5EF4-FFF2-40B4-BE49-F238E27FC236}">
                <a16:creationId xmlns:a16="http://schemas.microsoft.com/office/drawing/2014/main" id="{25AEE371-97B8-492F-88FB-3D504153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Aprendizado e propriedades preservadas</a:t>
            </a:r>
          </a:p>
        </p:txBody>
      </p:sp>
      <p:sp>
        <p:nvSpPr>
          <p:cNvPr id="2" name="Grupo 7 · Poker Adversarial · 12/12">
            <a:extLst xmlns:a="http://schemas.openxmlformats.org/drawingml/2006/main">
              <a:ext uri="{FF2B5EF4-FFF2-40B4-BE49-F238E27FC236}">
                <a16:creationId xmlns:a16="http://schemas.microsoft.com/office/drawing/2014/main" id="{F6B87696-541A-47FB-B728-3845961B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389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Grupo 7 · Poker Adversarial · 12/12</a:t>
            </a:r>
          </a:p>
        </p:txBody>
      </p:sp>
      <p:sp>
        <p:nvSpPr>
          <p:cNvPr id="3" name="O outro lado aprende com ações e limites observáveis">
            <a:extLst xmlns:a="http://schemas.openxmlformats.org/drawingml/2006/main">
              <a:ext uri="{FF2B5EF4-FFF2-40B4-BE49-F238E27FC236}">
                <a16:creationId xmlns:a16="http://schemas.microsoft.com/office/drawing/2014/main" id="{91E3030D-B2F9-4A7C-93BE-AF0C7F5A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O outro lado aprende com ações e limites observáveis</a:t>
            </a:r>
          </a:p>
        </p:txBody>
      </p:sp>
      <p:sp>
        <p:nvSpPr>
          <p:cNvPr id="4" name="Pode rever blefes, decisões de pagar e caminhos de acesso à infor">
            <a:extLst xmlns:a="http://schemas.openxmlformats.org/drawingml/2006/main">
              <a:ext uri="{FF2B5EF4-FFF2-40B4-BE49-F238E27FC236}">
                <a16:creationId xmlns:a16="http://schemas.microsoft.com/office/drawing/2014/main" id="{D8CAD620-A6BB-4929-BE64-7D7750A2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86000"/>
            <a:ext cx="11049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Pode rever blefes, decisões de pagar e caminhos de acesso à informação.</a:t>
            </a:r>
          </a:p>
        </p:txBody>
      </p:sp>
      <p:sp>
        <p:nvSpPr>
          <p:cNvPr id="5" name="O motor preserva sigilo, fichas e progresso da mão.">
            <a:extLst xmlns:a="http://schemas.openxmlformats.org/drawingml/2006/main">
              <a:ext uri="{FF2B5EF4-FFF2-40B4-BE49-F238E27FC236}">
                <a16:creationId xmlns:a16="http://schemas.microsoft.com/office/drawing/2014/main" id="{1FD3B433-2411-4BB1-B240-3C999D68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O motor preserva sigilo, fichas e progresso da mão.</a:t>
            </a:r>
          </a:p>
        </p:txBody>
      </p:sp>
      <p:sp>
        <p:nvSpPr>
          <p:cNvPr id="6" name="Fontes: PokerStars (regras e mãos), MIT (teoria dos jogos)&#10;e OWAS">
            <a:extLst xmlns:a="http://schemas.openxmlformats.org/drawingml/2006/main">
              <a:ext uri="{FF2B5EF4-FFF2-40B4-BE49-F238E27FC236}">
                <a16:creationId xmlns:a16="http://schemas.microsoft.com/office/drawing/2014/main" id="{0F0C17CF-289B-4A84-B47B-1E2DA83A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29100"/>
            <a:ext cx="1104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Fontes: PokerStars (regras e mãos), MIT (teoria dos jogos)</a:t>
            </a:r>
          </a:p>
          <a:p xmlns:a="http://schemas.openxmlformats.org/drawingml/2006/main">
            <a:pPr algn="l">
              <a:defRPr sz="195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e OWASP (ameaças, validação e registros). Links no relatório.</a:t>
            </a:r>
          </a:p>
        </p:txBody>
      </p:sp>
      <p:sp>
        <p:nvSpPr>
          <p:cNvPr id="7" name="Uso de IA: Codex na pesquisa, redação e produção dos materiais.&#10;R">
            <a:extLst xmlns:a="http://schemas.openxmlformats.org/drawingml/2006/main">
              <a:ext uri="{FF2B5EF4-FFF2-40B4-BE49-F238E27FC236}">
                <a16:creationId xmlns:a16="http://schemas.microsoft.com/office/drawing/2014/main" id="{B9C090B7-A1F3-4ABF-969E-A7CD5525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Uso de IA: Codex na pesquisa, redação e produção dos materiais.</a:t>
            </a:r>
          </a:p>
          <a:p xmlns:a="http://schemas.openxmlformats.org/drawingml/2006/main">
            <a:pPr algn="l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Revisão humana e contribuições reais do grupo ainda pendentes.</a:t>
            </a:r>
          </a:p>
        </p:txBody>
      </p:sp>
    </p:spTree>
    <p:extLst>
      <p:ext uri="{BB962C8B-B14F-4D97-AF65-F5344CB8AC3E}">
        <p14:creationId xmlns:p14="http://schemas.microsoft.com/office/powerpoint/2010/main" val="13657846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2026-10-06T13:50:23.3090000Z</dcterms:created>
  <dcterms:modified xsi:type="dcterms:W3CDTF">2026-10-06T13:50:23.3090000Z</dcterms:modified>
</coreProperties>
</file>