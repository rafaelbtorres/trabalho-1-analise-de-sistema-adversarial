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5c8139c7340e8" /><Relationship Type="http://schemas.openxmlformats.org/officeDocument/2006/relationships/extended-properties" Target="/docProps/app.xml" Id="R40772343997948b8" /><Relationship Type="http://schemas.openxmlformats.org/officeDocument/2006/relationships/officeDocument" Target="/ppt/presentation.xml" Id="Rd23e6a517346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85727b264d4d73"/>
  </p:sldMasterIdLst>
  <p:notesMasterIdLst>
    <p:notesMasterId xmlns:r="http://schemas.openxmlformats.org/officeDocument/2006/relationships" r:id="Read567d4262045e1"/>
  </p:notesMasterIdLst>
  <p:sldIdLst>
    <p:sldId xmlns:r="http://schemas.openxmlformats.org/officeDocument/2006/relationships" id="256" r:id="R42d3bd3b868e47d6"/>
    <p:sldId xmlns:r="http://schemas.openxmlformats.org/officeDocument/2006/relationships" id="257" r:id="Rf2670fc440b543b0"/>
    <p:sldId xmlns:r="http://schemas.openxmlformats.org/officeDocument/2006/relationships" id="258" r:id="Rcb2b7a4bf6104756"/>
    <p:sldId xmlns:r="http://schemas.openxmlformats.org/officeDocument/2006/relationships" id="259" r:id="Rc7aa0538badd4a27"/>
    <p:sldId xmlns:r="http://schemas.openxmlformats.org/officeDocument/2006/relationships" id="260" r:id="R37bf1d7b6daf49b1"/>
    <p:sldId xmlns:r="http://schemas.openxmlformats.org/officeDocument/2006/relationships" id="261" r:id="R8cc6e27674624ec5"/>
    <p:sldId xmlns:r="http://schemas.openxmlformats.org/officeDocument/2006/relationships" id="262" r:id="Rd451fd3b172c47cc"/>
    <p:sldId xmlns:r="http://schemas.openxmlformats.org/officeDocument/2006/relationships" id="263" r:id="R42630e70a02b4ca2"/>
    <p:sldId xmlns:r="http://schemas.openxmlformats.org/officeDocument/2006/relationships" id="264" r:id="Rc991b9c8a5c443b9"/>
    <p:sldId xmlns:r="http://schemas.openxmlformats.org/officeDocument/2006/relationships" id="265" r:id="R5fb6462987f94fcb"/>
    <p:sldId xmlns:r="http://schemas.openxmlformats.org/officeDocument/2006/relationships" id="266" r:id="R6ba241c58a0043a8"/>
    <p:sldId xmlns:r="http://schemas.openxmlformats.org/officeDocument/2006/relationships" id="267" r:id="Rb51a4075f5b047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4c9ff5c83427c" /><Relationship Type="http://schemas.openxmlformats.org/officeDocument/2006/relationships/slideMaster" Target="/ppt/slideMasters/slideMaster1.xml" Id="R2b85727b264d4d73" /><Relationship Type="http://schemas.openxmlformats.org/officeDocument/2006/relationships/notesMaster" Target="/ppt/notesMasters/notesMaster1.xml" Id="Read567d4262045e1" /><Relationship Type="http://schemas.openxmlformats.org/officeDocument/2006/relationships/presProps" Target="/ppt/presProps.xml" Id="R019968e5bd64463c" /><Relationship Type="http://schemas.openxmlformats.org/officeDocument/2006/relationships/tableStyles" Target="/ppt/tableStyles.xml" Id="R8793edd9b85b456a" /><Relationship Type="http://schemas.openxmlformats.org/officeDocument/2006/relationships/slide" Target="/ppt/slides/slide1.xml" Id="R42d3bd3b868e47d6" /><Relationship Type="http://schemas.openxmlformats.org/officeDocument/2006/relationships/slide" Target="/ppt/slides/slide2.xml" Id="Rf2670fc440b543b0" /><Relationship Type="http://schemas.openxmlformats.org/officeDocument/2006/relationships/slide" Target="/ppt/slides/slide3.xml" Id="Rcb2b7a4bf6104756" /><Relationship Type="http://schemas.openxmlformats.org/officeDocument/2006/relationships/slide" Target="/ppt/slides/slide4.xml" Id="Rc7aa0538badd4a27" /><Relationship Type="http://schemas.openxmlformats.org/officeDocument/2006/relationships/slide" Target="/ppt/slides/slide5.xml" Id="R37bf1d7b6daf49b1" /><Relationship Type="http://schemas.openxmlformats.org/officeDocument/2006/relationships/slide" Target="/ppt/slides/slide6.xml" Id="R8cc6e27674624ec5" /><Relationship Type="http://schemas.openxmlformats.org/officeDocument/2006/relationships/slide" Target="/ppt/slides/slide7.xml" Id="Rd451fd3b172c47cc" /><Relationship Type="http://schemas.openxmlformats.org/officeDocument/2006/relationships/slide" Target="/ppt/slides/slide8.xml" Id="R42630e70a02b4ca2" /><Relationship Type="http://schemas.openxmlformats.org/officeDocument/2006/relationships/slide" Target="/ppt/slides/slide9.xml" Id="Rc991b9c8a5c443b9" /><Relationship Type="http://schemas.openxmlformats.org/officeDocument/2006/relationships/slide" Target="/ppt/slides/slide10.xml" Id="R5fb6462987f94fcb" /><Relationship Type="http://schemas.openxmlformats.org/officeDocument/2006/relationships/slide" Target="/ppt/slides/slide11.xml" Id="R6ba241c58a0043a8" /><Relationship Type="http://schemas.openxmlformats.org/officeDocument/2006/relationships/slide" Target="/ppt/slides/slide12.xml" Id="Rb51a4075f5b047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e07dfaab9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a38edf38df47c7" /><Relationship Type="http://schemas.openxmlformats.org/officeDocument/2006/relationships/notesMaster" Target="/ppt/notesMasters/notesMaster1.xml" Id="Raa9c20e9fc3d40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19aeadf0ae495a" /><Relationship Type="http://schemas.openxmlformats.org/officeDocument/2006/relationships/notesMaster" Target="/ppt/notesMasters/notesMaster1.xml" Id="R47c6a4f1d1504b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6b003006fc444d" /><Relationship Type="http://schemas.openxmlformats.org/officeDocument/2006/relationships/notesMaster" Target="/ppt/notesMasters/notesMaster1.xml" Id="R0b65ba3984ed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d9231c9af4691" /><Relationship Type="http://schemas.openxmlformats.org/officeDocument/2006/relationships/notesMaster" Target="/ppt/notesMasters/notesMaster1.xml" Id="R275c8ee6ce6d4b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88875e340e4983" /><Relationship Type="http://schemas.openxmlformats.org/officeDocument/2006/relationships/notesMaster" Target="/ppt/notesMasters/notesMaster1.xml" Id="R777b56b44c624c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5c2d468c44fd8" /><Relationship Type="http://schemas.openxmlformats.org/officeDocument/2006/relationships/notesMaster" Target="/ppt/notesMasters/notesMaster1.xml" Id="R1f0051d9ae47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ca6ed96db4e09" /><Relationship Type="http://schemas.openxmlformats.org/officeDocument/2006/relationships/notesMaster" Target="/ppt/notesMasters/notesMaster1.xml" Id="R6e80ddf2bd054b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8ae14480342ea" /><Relationship Type="http://schemas.openxmlformats.org/officeDocument/2006/relationships/notesMaster" Target="/ppt/notesMasters/notesMaster1.xml" Id="R3c30f653e7de48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c4abee85504ff7" /><Relationship Type="http://schemas.openxmlformats.org/officeDocument/2006/relationships/notesMaster" Target="/ppt/notesMasters/notesMaster1.xml" Id="R3e4fb3af92824d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ae6b1bb754e03" /><Relationship Type="http://schemas.openxmlformats.org/officeDocument/2006/relationships/notesMaster" Target="/ppt/notesMasters/notesMaster1.xml" Id="R125cb61b11c243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404265223d4967" /><Relationship Type="http://schemas.openxmlformats.org/officeDocument/2006/relationships/notesMaster" Target="/ppt/notesMasters/notesMaster1.xml" Id="Rf6d8f57151df4c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30b047037499a" /><Relationship Type="http://schemas.openxmlformats.org/officeDocument/2006/relationships/notesMaster" Target="/ppt/notesMasters/notesMaster1.xml" Id="R63f27dfc8262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Somos o Grupo 7, formado por Rafael, Elton, Frederico e Diego. Nosso trabalho analisa uma interação de poker entre dois agentes de software. Cada agente busca melhorar seu resultado em fichas e precisa tomar decisões sem conhecer as cartas privadas do adversário. A pergunta que orienta a análise é como as escolhas de um lado produzem informação e mudam a decisão seguinte do outro. Nesta primeira entrega, apresentamos o planejamento, os modelos estratégicos e os riscos. A implementação funcional fica para o Trabalho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mão começa antes do flop, com duas cartas privadas para cada agente e nenhuma comunitária aberta. A coloca small blind de 5 e B, big blind de 10. A age primeiro no pré-flop e B nas etapas seguintes. Permitimos check, bet, call, fold, raise e all-in, com fichas inteiras até o saldo. Um raise indica o total da etapa; call paga apenas a diferença. O mínimo de aposta é 10 e o de aumento acompanha o último aumento completo. All-in pago encerra as decisões de aposta: devolvemos excesso não coberto e revelamos as cartas restantes. O relatório também traz um blefe all-in pré-flop, além do percurso principal com quatro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R1: https://www.pokerstars.com/poker/games/texas-holdem/</a:t>
            </a:r>
          </a:p>
          <a:p xmlns:a="http://schemas.openxmlformats.org/drawingml/2006/main">
            <a:r>
              <a:t>R7: https://www.pokerstars.com/help/articles/poker-rules-master/229168/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agentes A e B têm objetivos conflitantes porque disputam o mesmo pote. Suas decisões são intencionais: podem pagar para obter mais informação, desistir para limitar perdas ou apostar para pressionar o adversário. O motor tem outra responsabilidade: preservar a integridade da mão, aplicar as regras e conservar as fichas. Também precisamos preservar o sigilo das cartas privadas e permitir que a interação avance. O diagrama mostra quais informações circulam entre os agentes e o motor. Nossa proposta depende de três pressupostos: cada agente recebe apenas sua visão autorizada, o motor valida as ações e cada decisão termina dentro de um limite de execução. Se esses pressupostos falharem, surgem os riscos que discutiremos. Isso caracteriza uma situação adversarial porque as decisões procuram influenciar e explorar a reação do outro, além de responder ao acaso das cartas.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R4: https://cheatsheetseries.owasp.org/cheatsheets/Threat_Modeling_Cheat_Sheet.html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matriz analisa o river após o check inicial de B, com pote de 80, aposta de 20 e cartas com as quais B vence. O analista conhece os resultados; os agentes não conhecem as cartas do outro. A aposta ou dá check. B paga ou desiste diante da aposta; check de A encerra a etapa. Raises e all-in continuam permitidos no sistema, mas estão fora desta tabela reduzida. Com call, A perde 20 adicionais e B ganha 100 desse ponto em diante. Com fold, A ganha 80. Com check, A ganha zero e B recebe 80. A tabela converte esses ganhos em preferências. Seu equilíbrio não resolve a incerteza durante a mão.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R3: https://ocw.mit.edu/courses/17-810-game-theory-spring-2021/mit17_810s21_lec2.pdf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B paga, A prefere check; se B desiste, A prefere apostar. A não tem estratégia dominante. Para B, pagar é melhor diante da aposta e empata com a outra política diante do check. Assim, pagar domina fracamente: é melhor numa linha e igual na outra. O único equilíbrio puro da tabela é check com a política de pagar. Nenhum jogador melhora mudando sozinho. Check com a política de desistir não é equilíbrio, pois A melhoraria apostando. Esse resultado conserva fichas e usa ações legais. As garantias de sigilo e justiça dependem também dos controles do motor; a matriz sozinha não as comprova.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R3: https://ocw.mit.edu/courses/17-810-game-theory-spring-2021/mit17_810s21_lec2.pdf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pré-flop, A aumenta para 20 e B paga, levando o pote a 40. A mantém pressão pequena. No flop, B dá check, A aposta 10 e B aumenta para 20. A paga só mais 10. O pote chega a 80. O raise leva A à cautela; o call leva B a trocar aposta por valor por check visando indução. No turn, B dá check e A também. A interpreta a ausência de nova aposta como fraqueza. No river, B repete check, A blefa 20 e B paga. B vence com trinca: A termina com 50 e B com 170. No ramo all-in pré-flop, fold dá 120 a A; call leva à revelação sem novas apostas e, nesta mesa, B termina com 220.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R1: https://www.pokerstars.com/poker/games/texas-holdem/</a:t>
            </a:r>
          </a:p>
          <a:p xmlns:a="http://schemas.openxmlformats.org/drawingml/2006/main">
            <a:r>
              <a:t>R2: https://www.pokerstars.com/poker/games/rules/hand-rankings/</a:t>
            </a:r>
          </a:p>
          <a:p xmlns:a="http://schemas.openxmlformats.org/drawingml/2006/main">
            <a:r>
              <a:t>R7: https://www.pokerstars.com/help/articles/poker-rules-master/229168/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quatro etapas usam chamadas de observação, decisão e validação. Nessas mesmas interfaces, analisamos três desvios: T1 expõe cartas na visão de estado; T2 aceita uma ação inválida; T3 deixa uma decisão bloquear a execução. São cenários hipotéticos anteriores aos controles, supondo um agente deliberadamente adversarial e a fraqueza indicada. O diagrama liga cada ponto ao ativo afetado. As etapas apresentadas seguem ações legais; os riscos mostram o que poderia falhar nessas chamadas. Blefar continua permitido. Perder legitimamente é diferente de perder porque o adversário recebeu informação privada ou alterou as regras.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R4: https://cheatsheetseries.owasp.org/cheatsheets/Threat_Modeling_Cheat_Sheet.html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Avaliamos a chance de a tentativa funcionar supondo que a fraqueza descrita existe. A probabilidade qualitativa é três nos três casos: basta ler o campo exposto, enviar uma ação sem a validação correspondente ou não retornar de uma chamada sem limite. O ambiente local não dificulta essas ações. T1 e T2 recebem impacto três porque expõem cartas ou invalidam a contabilização e as regras. T3 recebe dois porque interrompe a mão, sem necessariamente alterar saldos ou revelar dados. Multiplicando probabilidade por impacto, temos nove, nove e seis. T1 e T2 empatam. As notas são avaliações didáticas condicionais, não medições da frequência de ataques nem prova de que essas falhas já existem no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R4: https://cheatsheetseries.owasp.org/cheatsheets/Threat_Modeling_Cheat_Sheet.html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Aprofundamos T1, empatada com T2, porque não é possível fazer o agente esquecer cartas já expostas. Isso não dispensa corrigir T2. Para T1, propomos visões específicas e separação dos registros públicos e internos. Uma reação possível é o agente consultar um campo privado, perceber sua ausência e tentar obtê-lo pelo histórico. O histórico também precisa estar filtrado. Depois, ele pode explorar sinais públicos permitidos ou procurar outro canal de exposição. Essa sequência é uma hipótese de adaptação, não um teste realizado. O controle custa manutenção e pode omitir informação pública por erro, prejudicando agentes legítimos. O risco residual é outro caminho de vazamento; ainda não temos evidência para atribuir uma redução numérica ao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R4: https://cheatsheetseries.owasp.org/cheatsheets/Threat_Modeling_Cheat_Sheet.html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redesenho propõe três controles. Para T1, filtramos visões e históricos. Para T2, validamos vez, ação, saldo e limites antes de atualizar o estado. Para T3, encerramos decisões que excedem um orçamento e aplicamos check quando legal ou fold quando existe aposta pendente. Um adversário pode procurar outra saída de dados ou passar a responder logo antes do limite. A defesa também custa: um erro pode rejeitar uma ação válida, e um agente legítimo lento pode sofrer fold automático. Por isso, precisamos registrar o motivo de cada resposta e verificar seus efeitos. A resiliência consiste em continuar preservando as propriedades da mão diante dessas adaptações; não pressupõe eliminar todo comportamento adversarial.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R5: https://cheatsheetseries.owasp.org/cheatsheets/Input_Validation_Cheat_Sheet.html</a:t>
            </a:r>
          </a:p>
          <a:p xmlns:a="http://schemas.openxmlformats.org/drawingml/2006/main">
            <a:r>
              <a:t>R6: https://cheatsheetseries.owasp.org/cheatsheets/Logging_Cheat_Sheet.html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possui motor e estado, provedor de visões, agentes, validador, executor e registro. Além de vez e saldo, o estado guarda contribuição por etapa, valor a pagar e último aumento completo. O motor calcula quanto transferir em raise, call e all-in. All-in pago devolve excesso e entra em runout sem pedir novas apostas. No Trabalho 2, verificaremos o percurso até 50 e 170, os ramos de all-in, conservação de fichas, sigilo e rejeição de ações inválidas. Os registros privados ligam observação, política anterior, política atual e custo, sem entregar o raciocínio ao oponente. São critérios planejados para implementação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R5: https://cheatsheetseries.owasp.org/cheatsheets/Input_Validation_Cheat_Sheet.html</a:t>
            </a:r>
          </a:p>
          <a:p xmlns:a="http://schemas.openxmlformats.org/drawingml/2006/main">
            <a:r>
              <a:t>R6: https://cheatsheetseries.owasp.org/cheatsheets/Logging_Cheat_Sheet.html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Depois da resposta, o outro lado aprende com as ações e os limites observáveis. Pode mudar seus blefes, suas decisões de pagar ou o caminho pelo qual procura informação. Apesar disso, o sistema precisa preservar sigilo, fichas e progresso da mão. As fontes que sustentam regras e conceitos ficam no relatório, junto da declaração das tarefas em que usamos IA. A adaptação dos dois agentes, os limites da matriz e os critérios dos riscos fazem parte da análise. As contribuições registradas estão no relatório e no Git. Essa análise será a base da implementação no Trabalho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05/10/2026, regras de poker reconferidas em 06/10/2026:</a:t>
            </a:r>
          </a:p>
          <a:p xmlns:a="http://schemas.openxmlformats.org/drawingml/2006/main">
            <a:r>
              <a:t>R1: https://www.pokerstars.com/poker/games/texas-holdem/</a:t>
            </a:r>
          </a:p>
          <a:p xmlns:a="http://schemas.openxmlformats.org/drawingml/2006/main">
            <a:r>
              <a:t>R2: https://www.pokerstars.com/poker/games/rules/hand-rankings/</a:t>
            </a:r>
          </a:p>
          <a:p xmlns:a="http://schemas.openxmlformats.org/drawingml/2006/main">
            <a:r>
              <a:t>R3: https://ocw.mit.edu/courses/17-810-game-theory-spring-2021/mit17_810s21_lec2.pdf</a:t>
            </a:r>
          </a:p>
          <a:p xmlns:a="http://schemas.openxmlformats.org/drawingml/2006/main">
            <a:r>
              <a:t>R4: https://cheatsheetseries.owasp.org/cheatsheets/Threat_Modeling_Cheat_Sheet.html</a:t>
            </a:r>
          </a:p>
          <a:p xmlns:a="http://schemas.openxmlformats.org/drawingml/2006/main">
            <a:r>
              <a:t>R5: https://cheatsheetseries.owasp.org/cheatsheets/Input_Validation_Cheat_Sheet.html</a:t>
            </a:r>
          </a:p>
          <a:p xmlns:a="http://schemas.openxmlformats.org/drawingml/2006/main">
            <a:r>
              <a:t>R6: https://cheatsheetseries.owasp.org/cheatsheets/Logging_Cheat_Sheet.html</a:t>
            </a:r>
          </a:p>
          <a:p xmlns:a="http://schemas.openxmlformats.org/drawingml/2006/main">
            <a:r>
              <a:t>R7: https://www.pokerstars.com/help/articles/poker-rules-master/229168/</a:t>
            </a:r>
          </a:p>
          <a:p xmlns:a="http://schemas.openxmlformats.org/drawingml/2006/main">
            <a:r>
              <a:t>Cenário sintético e análise de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26bd96f1944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c17dbf667c4f1a" /><Relationship Type="http://schemas.openxmlformats.org/officeDocument/2006/relationships/slideLayout" Target="/ppt/slideLayouts/slideLayout1.xml" Id="R15474761b88d46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74761b88d46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4e36ce024ea1" /><Relationship Type="http://schemas.openxmlformats.org/officeDocument/2006/relationships/notesSlide" Target="/ppt/notesSlides/notesSlide1.xml" Id="Rfd135faabcfc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1585ec1b433c" /><Relationship Type="http://schemas.openxmlformats.org/officeDocument/2006/relationships/notesSlide" Target="/ppt/notesSlides/notesSlide2.xml" Id="Rf84ed16a0b2c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f20a3be34d73" /><Relationship Type="http://schemas.openxmlformats.org/officeDocument/2006/relationships/notesSlide" Target="/ppt/notesSlides/notesSlide3.xml" Id="R1fa2a0ea18af43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a73109eb94511" /><Relationship Type="http://schemas.openxmlformats.org/officeDocument/2006/relationships/notesSlide" Target="/ppt/notesSlides/notesSlide4.xml" Id="Ref662ed35321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741ca55534084" /><Relationship Type="http://schemas.openxmlformats.org/officeDocument/2006/relationships/notesSlide" Target="/ppt/notesSlides/notesSlide5.xml" Id="R0b0c032c71a141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036ef07554009" /><Relationship Type="http://schemas.openxmlformats.org/officeDocument/2006/relationships/notesSlide" Target="/ppt/notesSlides/notesSlide6.xml" Id="R39d90dadd260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8214fb66c468d" /><Relationship Type="http://schemas.openxmlformats.org/officeDocument/2006/relationships/notesSlide" Target="/ppt/notesSlides/notesSlide7.xml" Id="Rc42d121d2f3b47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0843e79fd4643" /><Relationship Type="http://schemas.openxmlformats.org/officeDocument/2006/relationships/notesSlide" Target="/ppt/notesSlides/notesSlide8.xml" Id="Ra7dc99671eab41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cb564231341d7" /><Relationship Type="http://schemas.openxmlformats.org/officeDocument/2006/relationships/notesSlide" Target="/ppt/notesSlides/notesSlide9.xml" Id="Rb4ff2301a96146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f02771b184af5" /><Relationship Type="http://schemas.openxmlformats.org/officeDocument/2006/relationships/notesSlide" Target="/ppt/notesSlides/notesSlide10.xml" Id="Rc33aa6339ba844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2232139eb4760" /><Relationship Type="http://schemas.openxmlformats.org/officeDocument/2006/relationships/notesSlide" Target="/ppt/notesSlides/notesSlide11.xml" Id="Rfe5b63a2493a4e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08311c77c4401" /><Relationship Type="http://schemas.openxmlformats.org/officeDocument/2006/relationships/notesSlide" Target="/ppt/notesSlides/notesSlide12.xml" Id="R343ef7eaa6ab4a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oker Adversarial">
            <a:extLst xmlns:a="http://schemas.openxmlformats.org/drawingml/2006/main">
              <a:ext uri="{FF2B5EF4-FFF2-40B4-BE49-F238E27FC236}">
                <a16:creationId xmlns:a16="http://schemas.microsoft.com/office/drawing/2014/main" id="{6739A509-98EA-4838-BE28-704F1A4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Poker Adversarial</a:t>
            </a:r>
          </a:p>
        </p:txBody>
      </p:sp>
      <p:sp>
        <p:nvSpPr>
          <p:cNvPr id="2" name="Grupo 7 · Poker Adversarial · 1/12">
            <a:extLst xmlns:a="http://schemas.openxmlformats.org/drawingml/2006/main">
              <a:ext uri="{FF2B5EF4-FFF2-40B4-BE49-F238E27FC236}">
                <a16:creationId xmlns:a16="http://schemas.microsoft.com/office/drawing/2014/main" id="{5E784C1C-85DB-4A46-A8DF-6799C46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1/12</a:t>
            </a:r>
          </a:p>
        </p:txBody>
      </p:sp>
      <p:sp>
        <p:nvSpPr>
          <p:cNvPr id="3" name="Dois agentes decidem com informação parcial">
            <a:extLst xmlns:a="http://schemas.openxmlformats.org/drawingml/2006/main">
              <a:ext uri="{FF2B5EF4-FFF2-40B4-BE49-F238E27FC236}">
                <a16:creationId xmlns:a16="http://schemas.microsoft.com/office/drawing/2014/main" id="{EED01BC1-723C-4407-A029-9910BA5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Dois agentes decidem com informação parcial</a:t>
            </a:r>
          </a:p>
        </p:txBody>
      </p:sp>
      <p:sp>
        <p:nvSpPr>
          <p:cNvPr id="4" name="Trabalho 1 · Engenharia de Software Adversarial">
            <a:extLst xmlns:a="http://schemas.openxmlformats.org/drawingml/2006/main">
              <a:ext uri="{FF2B5EF4-FFF2-40B4-BE49-F238E27FC236}">
                <a16:creationId xmlns:a16="http://schemas.microsoft.com/office/drawing/2014/main" id="{9C532547-F0DB-46EF-B61A-6A8098F6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Trabalho 1 · Engenharia de Software Adversarial</a:t>
            </a:r>
          </a:p>
        </p:txBody>
      </p:sp>
      <p:sp>
        <p:nvSpPr>
          <p:cNvPr id="5" name="Rafael Barboza Torres&#10;Elton Henrique Lunardi Gimenes&#10;Frederico Ma">
            <a:extLst xmlns:a="http://schemas.openxmlformats.org/drawingml/2006/main">
              <a:ext uri="{FF2B5EF4-FFF2-40B4-BE49-F238E27FC236}">
                <a16:creationId xmlns:a16="http://schemas.microsoft.com/office/drawing/2014/main" id="{35C7BDD5-EA6B-4E73-B254-33005E8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Rafael Barboza Torres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Elton Henrique Lunardi Gimenes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Frederico Marques da Silva Barcelos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Diego Santos de Araujo</a:t>
            </a:r>
          </a:p>
        </p:txBody>
      </p:sp>
    </p:spTree>
    <p:extLst>
      <p:ext uri="{BB962C8B-B14F-4D97-AF65-F5344CB8AC3E}">
        <p14:creationId xmlns:p14="http://schemas.microsoft.com/office/powerpoint/2010/main" val="891450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orte e regras">
            <a:extLst xmlns:a="http://schemas.openxmlformats.org/drawingml/2006/main">
              <a:ext uri="{FF2B5EF4-FFF2-40B4-BE49-F238E27FC236}">
                <a16:creationId xmlns:a16="http://schemas.microsoft.com/office/drawing/2014/main" id="{68527DD5-8F5B-405A-BF3A-64F84A2B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Recorte e regras</a:t>
            </a:r>
          </a:p>
        </p:txBody>
      </p:sp>
      <p:sp>
        <p:nvSpPr>
          <p:cNvPr id="2" name="Grupo 7 · Poker Adversarial · 2/12">
            <a:extLst xmlns:a="http://schemas.openxmlformats.org/drawingml/2006/main">
              <a:ext uri="{FF2B5EF4-FFF2-40B4-BE49-F238E27FC236}">
                <a16:creationId xmlns:a16="http://schemas.microsoft.com/office/drawing/2014/main" id="{1DFA1AE9-3EA8-4FCD-8D59-FF0086B0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2/12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2390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Interação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do protótipo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Uma mão, dois agentes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Pré-flop, flop, turn e river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Ações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Check, bet, call, fold, raise e all-in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Apostas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Blinds 5/10. Raise mínimo e saldo finito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Encerramento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Fold, river ou all-in pago com runout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4" name="All-in pago: devolver excesso e revelar sem novas apostas">
            <a:extLst xmlns:a="http://schemas.openxmlformats.org/drawingml/2006/main">
              <a:ext uri="{FF2B5EF4-FFF2-40B4-BE49-F238E27FC236}">
                <a16:creationId xmlns:a16="http://schemas.microsoft.com/office/drawing/2014/main" id="{5C7AFBCF-A559-44F7-81F2-EF02BBF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All-in pago: devolver excesso e revelar sem novas apostas</a:t>
            </a:r>
          </a:p>
        </p:txBody>
      </p:sp>
      <p:sp>
        <p:nvSpPr>
          <p:cNvPr id="5" name="A age primeiro no pré-flop. B age primeiro nas etapas seguintes.">
            <a:extLst xmlns:a="http://schemas.openxmlformats.org/drawingml/2006/main">
              <a:ext uri="{FF2B5EF4-FFF2-40B4-BE49-F238E27FC236}">
                <a16:creationId xmlns:a16="http://schemas.microsoft.com/office/drawing/2014/main" id="{44300525-B881-464B-B813-FD4B6B2E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 age primeiro no pré-flop. B age primeiro nas etapas seguintes.</a:t>
            </a:r>
          </a:p>
        </p:txBody>
      </p:sp>
    </p:spTree>
    <p:extLst>
      <p:ext uri="{BB962C8B-B14F-4D97-AF65-F5344CB8AC3E}">
        <p14:creationId xmlns:p14="http://schemas.microsoft.com/office/powerpoint/2010/main" val="1228094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tores e propriedades preservadas">
            <a:extLst xmlns:a="http://schemas.openxmlformats.org/drawingml/2006/main">
              <a:ext uri="{FF2B5EF4-FFF2-40B4-BE49-F238E27FC236}">
                <a16:creationId xmlns:a16="http://schemas.microsoft.com/office/drawing/2014/main" id="{4A77FA7D-9425-4C13-A1D0-D016CF3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Atores e propriedades preservadas</a:t>
            </a:r>
          </a:p>
        </p:txBody>
      </p:sp>
      <p:sp>
        <p:nvSpPr>
          <p:cNvPr id="2" name="Grupo 7 · Poker Adversarial · 3/12">
            <a:extLst xmlns:a="http://schemas.openxmlformats.org/drawingml/2006/main">
              <a:ext uri="{FF2B5EF4-FFF2-40B4-BE49-F238E27FC236}">
                <a16:creationId xmlns:a16="http://schemas.microsoft.com/office/drawing/2014/main" id="{D6954AF9-ED15-4838-A821-FBD0529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3/12</a:t>
            </a:r>
          </a:p>
        </p:txBody>
      </p:sp>
      <p:sp>
        <p:nvSpPr>
          <p:cNvPr id="3" name="Ações chegam ao motor. Visões filtradas retornam aos agentes.">
            <a:extLst xmlns:a="http://schemas.openxmlformats.org/drawingml/2006/main">
              <a:ext uri="{FF2B5EF4-FFF2-40B4-BE49-F238E27FC236}">
                <a16:creationId xmlns:a16="http://schemas.microsoft.com/office/drawing/2014/main" id="{A8B35D28-D492-41F7-9E9B-FDB5C70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Ações chegam ao motor. Visões filtradas retornam aos agentes.</a:t>
            </a:r>
          </a:p>
        </p:txBody>
      </p:sp>
      <p:sp>
        <p:nvSpPr>
          <p:cNvPr id="4" name="Agente A Ganhar fichas">
            <a:extLst xmlns:a="http://schemas.openxmlformats.org/drawingml/2006/main">
              <a:ext uri="{FF2B5EF4-FFF2-40B4-BE49-F238E27FC236}">
                <a16:creationId xmlns:a16="http://schemas.microsoft.com/office/drawing/2014/main" id="{C6CD197C-B2B6-43C0-8B20-8DF553E3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Agente A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Ganhar fichas</a:t>
            </a:r>
          </a:p>
        </p:txBody>
      </p:sp>
      <p:sp>
        <p:nvSpPr>
          <p:cNvPr id="5" name="Agente B Ganhar fichas">
            <a:extLst xmlns:a="http://schemas.openxmlformats.org/drawingml/2006/main">
              <a:ext uri="{FF2B5EF4-FFF2-40B4-BE49-F238E27FC236}">
                <a16:creationId xmlns:a16="http://schemas.microsoft.com/office/drawing/2014/main" id="{1DFB2A62-2E51-4F44-87EB-4CF55D56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28875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Agente B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Ganhar fichas</a:t>
            </a:r>
          </a:p>
        </p:txBody>
      </p:sp>
      <p:sp>
        <p:nvSpPr>
          <p:cNvPr id="6" name="Motor da mão Pré-flop, river ou runout Valida raise e all-in">
            <a:extLst xmlns:a="http://schemas.openxmlformats.org/drawingml/2006/main">
              <a:ext uri="{FF2B5EF4-FFF2-40B4-BE49-F238E27FC236}">
                <a16:creationId xmlns:a16="http://schemas.microsoft.com/office/drawing/2014/main" id="{C9784493-01E5-43A9-B879-07B7DDF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Motor da mão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Pré-flop, river ou runout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Valida raise e all-in</a:t>
            </a:r>
          </a:p>
        </p:txBody>
      </p:sp>
      <p:sp>
        <p:nvSpPr>
          <p:cNvPr id="7" name="Registro interno Auditoria após a mão">
            <a:extLst xmlns:a="http://schemas.openxmlformats.org/drawingml/2006/main">
              <a:ext uri="{FF2B5EF4-FFF2-40B4-BE49-F238E27FC236}">
                <a16:creationId xmlns:a16="http://schemas.microsoft.com/office/drawing/2014/main" id="{ADA16DD6-D850-44BD-99ED-2AD17695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672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Registro interno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Auditoria após a mão</a:t>
            </a:r>
          </a:p>
        </p:txBody>
      </p:sp>
      <p:sp>
        <p:nvSpPr>
          <p:cNvPr id="8" name="Operador do grupo Analisa cenário">
            <a:extLst xmlns:a="http://schemas.openxmlformats.org/drawingml/2006/main">
              <a:ext uri="{FF2B5EF4-FFF2-40B4-BE49-F238E27FC236}">
                <a16:creationId xmlns:a16="http://schemas.microsoft.com/office/drawing/2014/main" id="{95A6F9F0-A473-44EA-A907-2BEC78D8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86274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Operador do grupo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Analisa cenário</a:t>
            </a:r>
          </a:p>
        </p:txBody>
      </p:sp>
      <p:sp>
        <p:nvSpPr>
          <p:cNvPr id="9" name="Preservar integridade, sigilo e progresso">
            <a:extLst xmlns:a="http://schemas.openxmlformats.org/drawingml/2006/main">
              <a:ext uri="{FF2B5EF4-FFF2-40B4-BE49-F238E27FC236}">
                <a16:creationId xmlns:a16="http://schemas.microsoft.com/office/drawing/2014/main" id="{7ACD8EF6-6955-4A60-A92E-8D3FAD4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15240">
            <a:solidFill>
              <a:srgbClr val="14755E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Preservar integridade,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755E"/>
                </a:solidFill>
                <a:latin typeface="Arial"/>
                <a:ea typeface="Arial"/>
                <a:cs typeface="Arial"/>
              </a:rPr>
              <a:t>sigilo e progresso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29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620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714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20000" y="5143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000250" y="3714750"/>
            <a:ext cx="40957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42301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cisão estática no river">
            <a:extLst xmlns:a="http://schemas.openxmlformats.org/drawingml/2006/main">
              <a:ext uri="{FF2B5EF4-FFF2-40B4-BE49-F238E27FC236}">
                <a16:creationId xmlns:a16="http://schemas.microsoft.com/office/drawing/2014/main" id="{B26D193A-B284-45D0-8D2B-DC8FE97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Decisão estática no river</a:t>
            </a:r>
          </a:p>
        </p:txBody>
      </p:sp>
      <p:sp>
        <p:nvSpPr>
          <p:cNvPr id="2" name="Grupo 7 · Poker Adversarial · 4/12">
            <a:extLst xmlns:a="http://schemas.openxmlformats.org/drawingml/2006/main">
              <a:ext uri="{FF2B5EF4-FFF2-40B4-BE49-F238E27FC236}">
                <a16:creationId xmlns:a16="http://schemas.microsoft.com/office/drawing/2014/main" id="{76268008-410D-4019-94D3-56A1756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4/12</a:t>
            </a:r>
          </a:p>
        </p:txBody>
      </p:sp>
      <p:sp>
        <p:nvSpPr>
          <p:cNvPr id="3" name="Após check de B: pote 80, aposta 20, B vence na revelação">
            <a:extLst xmlns:a="http://schemas.openxmlformats.org/drawingml/2006/main">
              <a:ext uri="{FF2B5EF4-FFF2-40B4-BE49-F238E27FC236}">
                <a16:creationId xmlns:a16="http://schemas.microsoft.com/office/drawing/2014/main" id="{949C8145-29EA-4319-B066-92AD42BF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Após check de B: pote 80, aposta 20, B vence na revelação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43250"/>
                <a:gridCol w="3143250"/>
              </a:tblGrid>
              <a:tr h="825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/ política de B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B1: pagar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B2: desistir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825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A1: apostar 20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(0, 3)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(3, 0)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A2: check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(1, 2)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(1, 2)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5" name="Pares = preferência de A e B. Maior valor = resultado preferido.">
            <a:extLst xmlns:a="http://schemas.openxmlformats.org/drawingml/2006/main">
              <a:ext uri="{FF2B5EF4-FFF2-40B4-BE49-F238E27FC236}">
                <a16:creationId xmlns:a16="http://schemas.microsoft.com/office/drawing/2014/main" id="{18E395E0-C99E-4671-8B37-4572C23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Pares = preferência de A e B. Maior valor = resultado preferido.</a:t>
            </a:r>
          </a:p>
        </p:txBody>
      </p:sp>
      <p:sp>
        <p:nvSpPr>
          <p:cNvPr id="6" name="Call: A perde 20 e B ganha 100. Fold: A ganha 80.">
            <a:extLst xmlns:a="http://schemas.openxmlformats.org/drawingml/2006/main">
              <a:ext uri="{FF2B5EF4-FFF2-40B4-BE49-F238E27FC236}">
                <a16:creationId xmlns:a16="http://schemas.microsoft.com/office/drawing/2014/main" id="{AF289344-F799-45A7-97BB-0C8D877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Call: A perde 20 e B ganha 100. Fold: A ganha 80.</a:t>
            </a:r>
          </a:p>
        </p:txBody>
      </p:sp>
      <p:sp>
        <p:nvSpPr>
          <p:cNvPr id="7" name="Tabela reduzida sem raise/all-in. Cartas fixadas pelo analista, o">
            <a:extLst xmlns:a="http://schemas.openxmlformats.org/drawingml/2006/main">
              <a:ext uri="{FF2B5EF4-FFF2-40B4-BE49-F238E27FC236}">
                <a16:creationId xmlns:a16="http://schemas.microsoft.com/office/drawing/2014/main" id="{86115313-AA52-490F-96D8-4CB68D78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Tabela reduzida sem raise/all-in. Cartas fixadas pelo analista, ocultas dos agentes.</a:t>
            </a:r>
          </a:p>
        </p:txBody>
      </p:sp>
    </p:spTree>
    <p:extLst>
      <p:ext uri="{BB962C8B-B14F-4D97-AF65-F5344CB8AC3E}">
        <p14:creationId xmlns:p14="http://schemas.microsoft.com/office/powerpoint/2010/main" val="2143352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elhores respostas e equilíbrio">
            <a:extLst xmlns:a="http://schemas.openxmlformats.org/drawingml/2006/main">
              <a:ext uri="{FF2B5EF4-FFF2-40B4-BE49-F238E27FC236}">
                <a16:creationId xmlns:a16="http://schemas.microsoft.com/office/drawing/2014/main" id="{C1C5D64C-8D2D-4300-A210-6E460BF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Melhores respostas e equilíbrio</a:t>
            </a:r>
          </a:p>
        </p:txBody>
      </p:sp>
      <p:sp>
        <p:nvSpPr>
          <p:cNvPr id="2" name="Grupo 7 · Poker Adversarial · 5/12">
            <a:extLst xmlns:a="http://schemas.openxmlformats.org/drawingml/2006/main">
              <a:ext uri="{FF2B5EF4-FFF2-40B4-BE49-F238E27FC236}">
                <a16:creationId xmlns:a16="http://schemas.microsoft.com/office/drawing/2014/main" id="{D638D6E8-58FF-44DD-A159-4AE86022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5/12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952750"/>
              </a:tblGrid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fixada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Melhor resposta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B1: pagar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A2: check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B2: desistir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A1: apostar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A1: apostar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B1: pagar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A2: check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B1 ou B2, empate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4" name="A: sem dominante">
            <a:extLst xmlns:a="http://schemas.openxmlformats.org/drawingml/2006/main">
              <a:ext uri="{FF2B5EF4-FFF2-40B4-BE49-F238E27FC236}">
                <a16:creationId xmlns:a16="http://schemas.microsoft.com/office/drawing/2014/main" id="{2771BBD3-93D6-4738-88E6-181983B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716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A: sem dominante</a:t>
            </a:r>
          </a:p>
        </p:txBody>
      </p:sp>
      <p:sp>
        <p:nvSpPr>
          <p:cNvPr id="5" name="B1 domina fracamente">
            <a:extLst xmlns:a="http://schemas.openxmlformats.org/drawingml/2006/main">
              <a:ext uri="{FF2B5EF4-FFF2-40B4-BE49-F238E27FC236}">
                <a16:creationId xmlns:a16="http://schemas.microsoft.com/office/drawing/2014/main" id="{0D011983-2A87-46A4-AF83-C859783D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B1 domina fracamente</a:t>
            </a:r>
          </a:p>
        </p:txBody>
      </p:sp>
      <p:sp>
        <p:nvSpPr>
          <p:cNvPr id="6" name="Equilíbrio puro&#10;(A2, B1)">
            <a:extLst xmlns:a="http://schemas.openxmlformats.org/drawingml/2006/main">
              <a:ext uri="{FF2B5EF4-FFF2-40B4-BE49-F238E27FC236}">
                <a16:creationId xmlns:a16="http://schemas.microsoft.com/office/drawing/2014/main" id="{FE86E0D7-6B25-4E1C-BE21-062B8ED5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Equilíbrio puro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(A2, B1)</a:t>
            </a:r>
          </a:p>
        </p:txBody>
      </p:sp>
      <p:sp>
        <p:nvSpPr>
          <p:cNvPr id="7" name="Equilíbrio da tabela retrospectiva. Sigilo e justiça dependem tam">
            <a:extLst xmlns:a="http://schemas.openxmlformats.org/drawingml/2006/main">
              <a:ext uri="{FF2B5EF4-FFF2-40B4-BE49-F238E27FC236}">
                <a16:creationId xmlns:a16="http://schemas.microsoft.com/office/drawing/2014/main" id="{E4B50F0C-622A-4B8A-B365-4ABEB85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Equilíbrio da tabela retrospectiva. Sigilo e justiça dependem também dos controles.</a:t>
            </a:r>
          </a:p>
        </p:txBody>
      </p:sp>
    </p:spTree>
    <p:extLst>
      <p:ext uri="{BB962C8B-B14F-4D97-AF65-F5344CB8AC3E}">
        <p14:creationId xmlns:p14="http://schemas.microsoft.com/office/powerpoint/2010/main" val="1536549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Quatro etapas e adaptação">
            <a:extLst xmlns:a="http://schemas.openxmlformats.org/drawingml/2006/main">
              <a:ext uri="{FF2B5EF4-FFF2-40B4-BE49-F238E27FC236}">
                <a16:creationId xmlns:a16="http://schemas.microsoft.com/office/drawing/2014/main" id="{28AAEFA1-0B37-4621-B6C8-2113C2AE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Quatro etapas e adaptação</a:t>
            </a:r>
          </a:p>
        </p:txBody>
      </p:sp>
      <p:sp>
        <p:nvSpPr>
          <p:cNvPr id="2" name="Grupo 7 · Poker Adversarial · 6/12">
            <a:extLst xmlns:a="http://schemas.openxmlformats.org/drawingml/2006/main">
              <a:ext uri="{FF2B5EF4-FFF2-40B4-BE49-F238E27FC236}">
                <a16:creationId xmlns:a16="http://schemas.microsoft.com/office/drawing/2014/main" id="{E9743E39-B7AC-4160-8B9B-9F21735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6/12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4191000"/>
                <a:gridCol w="53340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Ação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Mudança observada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Pré-flop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 raise 20 / B call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 mantém teste. B prepara raise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Flop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 check / A bet 10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 raise 20 / A call +10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 recua. B muda para indução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Turn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 check / A check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 lê fraqueza. B mantém indução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River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 check / A bet 20 / B call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 erra a leitura. B vence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4" name="A: 7♣ 2♦    B: A♥ A♦    Mesa: A♠ 9♥ 4♣ K♣ 3♦">
            <a:extLst xmlns:a="http://schemas.openxmlformats.org/drawingml/2006/main">
              <a:ext uri="{FF2B5EF4-FFF2-40B4-BE49-F238E27FC236}">
                <a16:creationId xmlns:a16="http://schemas.microsoft.com/office/drawing/2014/main" id="{237BE957-AF98-4A86-BAE2-3064D15E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A: 7♣ 2♦    B: A♥ A♦    Mesa: A♠ 9♥ 4♣ K♣ 3♦</a:t>
            </a:r>
          </a:p>
        </p:txBody>
      </p:sp>
      <p:sp>
        <p:nvSpPr>
          <p:cNvPr id="5" name="Final: A 50, B 170. Total conservado: 220 fichas.">
            <a:extLst xmlns:a="http://schemas.openxmlformats.org/drawingml/2006/main">
              <a:ext uri="{FF2B5EF4-FFF2-40B4-BE49-F238E27FC236}">
                <a16:creationId xmlns:a16="http://schemas.microsoft.com/office/drawing/2014/main" id="{71D73DAC-4CF8-4BFB-A168-F8588D56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Final: A 50, B 170. Total conservado: 220 fichas.</a:t>
            </a:r>
          </a:p>
        </p:txBody>
      </p:sp>
      <p:sp>
        <p:nvSpPr>
          <p:cNvPr id="6" name="All-in pré-flop alternativo: fold 120/100, call 0/220">
            <a:extLst xmlns:a="http://schemas.openxmlformats.org/drawingml/2006/main">
              <a:ext uri="{FF2B5EF4-FFF2-40B4-BE49-F238E27FC236}">
                <a16:creationId xmlns:a16="http://schemas.microsoft.com/office/drawing/2014/main" id="{56A1DF8D-1006-496D-9EC8-B95DC812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All-in pré-flop alternativo: fold 120/100, call 0/220</a:t>
            </a:r>
          </a:p>
        </p:txBody>
      </p:sp>
      <p:sp>
        <p:nvSpPr>
          <p:cNvPr id="7" name="Cenários manuais. No all-in pago, a mesa abre sem novas decisões ">
            <a:extLst xmlns:a="http://schemas.openxmlformats.org/drawingml/2006/main">
              <a:ext uri="{FF2B5EF4-FFF2-40B4-BE49-F238E27FC236}">
                <a16:creationId xmlns:a16="http://schemas.microsoft.com/office/drawing/2014/main" id="{07DA28A2-B8EE-4901-846F-7CAAA686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Cenários manuais. No all-in pago, a mesa abre sem novas decisões de aposta.</a:t>
            </a:r>
          </a:p>
        </p:txBody>
      </p:sp>
    </p:spTree>
    <p:extLst>
      <p:ext uri="{BB962C8B-B14F-4D97-AF65-F5344CB8AC3E}">
        <p14:creationId xmlns:p14="http://schemas.microsoft.com/office/powerpoint/2010/main" val="1368907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perfície de ataque">
            <a:extLst xmlns:a="http://schemas.openxmlformats.org/drawingml/2006/main">
              <a:ext uri="{FF2B5EF4-FFF2-40B4-BE49-F238E27FC236}">
                <a16:creationId xmlns:a16="http://schemas.microsoft.com/office/drawing/2014/main" id="{E44DF9E7-0AB6-4D6B-AA55-97D4E07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Superfície de ataque</a:t>
            </a:r>
          </a:p>
        </p:txBody>
      </p:sp>
      <p:sp>
        <p:nvSpPr>
          <p:cNvPr id="2" name="Grupo 7 · Poker Adversarial · 7/12">
            <a:extLst xmlns:a="http://schemas.openxmlformats.org/drawingml/2006/main">
              <a:ext uri="{FF2B5EF4-FFF2-40B4-BE49-F238E27FC236}">
                <a16:creationId xmlns:a16="http://schemas.microsoft.com/office/drawing/2014/main" id="{235D8FCE-1BBB-42F3-BE91-EF158FC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7/12</a:t>
            </a:r>
          </a:p>
        </p:txBody>
      </p:sp>
      <p:sp>
        <p:nvSpPr>
          <p:cNvPr id="3" name="Módulo adversarial">
            <a:extLst xmlns:a="http://schemas.openxmlformats.org/drawingml/2006/main">
              <a:ext uri="{FF2B5EF4-FFF2-40B4-BE49-F238E27FC236}">
                <a16:creationId xmlns:a16="http://schemas.microsoft.com/office/drawing/2014/main" id="{7C895B03-56A1-4043-A81A-428B29C0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2524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Módulo adversarial</a:t>
            </a:r>
          </a:p>
        </p:txBody>
      </p:sp>
      <p:sp>
        <p:nvSpPr>
          <p:cNvPr id="4" name="T1: visão e histórico Campo privado sem filtro Falha de P1">
            <a:extLst xmlns:a="http://schemas.openxmlformats.org/drawingml/2006/main">
              <a:ext uri="{FF2B5EF4-FFF2-40B4-BE49-F238E27FC236}">
                <a16:creationId xmlns:a16="http://schemas.microsoft.com/office/drawing/2014/main" id="{7BAEAD23-06CF-4F4B-B945-7345EB4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7637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T1: visão e histórico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Campo privado sem filtro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P1</a:t>
            </a:r>
          </a:p>
        </p:txBody>
      </p:sp>
      <p:sp>
        <p:nvSpPr>
          <p:cNvPr id="5" name="T2: entrada de ações Raise, call ou devolução inválidos Falha de P2">
            <a:extLst xmlns:a="http://schemas.openxmlformats.org/drawingml/2006/main">
              <a:ext uri="{FF2B5EF4-FFF2-40B4-BE49-F238E27FC236}">
                <a16:creationId xmlns:a16="http://schemas.microsoft.com/office/drawing/2014/main" id="{29A9A203-0BE0-42BD-BBE3-3D3FE188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T2: entrada de ações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Raise, call ou devolução inválidos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P2</a:t>
            </a:r>
          </a:p>
        </p:txBody>
      </p:sp>
      <p:sp>
        <p:nvSpPr>
          <p:cNvPr id="6" name="T3: executor Decisão sem limite Falha de P3">
            <a:extLst xmlns:a="http://schemas.openxmlformats.org/drawingml/2006/main">
              <a:ext uri="{FF2B5EF4-FFF2-40B4-BE49-F238E27FC236}">
                <a16:creationId xmlns:a16="http://schemas.microsoft.com/office/drawing/2014/main" id="{A7FEF7F8-C6DB-4554-A6ED-ABD5AD9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T3: executor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Decisão sem limite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Falha de P3</a:t>
            </a:r>
          </a:p>
        </p:txBody>
      </p:sp>
      <p:sp>
        <p:nvSpPr>
          <p:cNvPr id="7" name="Sigilo e justiça Risco 9">
            <a:extLst xmlns:a="http://schemas.openxmlformats.org/drawingml/2006/main">
              <a:ext uri="{FF2B5EF4-FFF2-40B4-BE49-F238E27FC236}">
                <a16:creationId xmlns:a16="http://schemas.microsoft.com/office/drawing/2014/main" id="{253E76E6-0EA0-470B-A3E8-B0772159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6687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Sigilo e justiça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9</a:t>
            </a:r>
          </a:p>
        </p:txBody>
      </p:sp>
      <p:sp>
        <p:nvSpPr>
          <p:cNvPr id="8" name="Integridade e fichas Risco 9">
            <a:extLst xmlns:a="http://schemas.openxmlformats.org/drawingml/2006/main">
              <a:ext uri="{FF2B5EF4-FFF2-40B4-BE49-F238E27FC236}">
                <a16:creationId xmlns:a16="http://schemas.microsoft.com/office/drawing/2014/main" id="{D504BDD3-3411-4F86-9C81-AEB9E15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Integridade e fichas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9</a:t>
            </a:r>
          </a:p>
        </p:txBody>
      </p:sp>
      <p:sp>
        <p:nvSpPr>
          <p:cNvPr id="9" name="Progresso Risco 6">
            <a:extLst xmlns:a="http://schemas.openxmlformats.org/drawingml/2006/main">
              <a:ext uri="{FF2B5EF4-FFF2-40B4-BE49-F238E27FC236}">
                <a16:creationId xmlns:a16="http://schemas.microsoft.com/office/drawing/2014/main" id="{129A74F4-7586-49FD-9B87-706F5338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05375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7353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Progresso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A735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3532"/>
                </a:solidFill>
                <a:latin typeface="Arial"/>
                <a:ea typeface="Arial"/>
                <a:cs typeface="Arial"/>
              </a:rPr>
              <a:t>Risco 6</a:t>
            </a:r>
          </a:p>
        </p:txBody>
      </p:sp>
      <p:cxnSp>
        <p:nvCxnSpPr>
          <p:cNvPr id="5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095625" y="2000250"/>
            <a:ext cx="1285875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3438525"/>
            <a:ext cx="12858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95625" y="3438525"/>
            <a:ext cx="1285875" cy="1800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20002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10500" y="36195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10500" y="52387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sp>
        <p:nvSpPr>
          <p:cNvPr id="16" name="C1: filtrar saídas">
            <a:extLst xmlns:a="http://schemas.openxmlformats.org/drawingml/2006/main">
              <a:ext uri="{FF2B5EF4-FFF2-40B4-BE49-F238E27FC236}">
                <a16:creationId xmlns:a16="http://schemas.microsoft.com/office/drawing/2014/main" id="{E3B928B9-22A3-4455-8863-039A4DA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C1: filtrar saídas</a:t>
            </a:r>
          </a:p>
        </p:txBody>
      </p:sp>
      <p:sp>
        <p:nvSpPr>
          <p:cNvPr id="17" name="C2/C3: validar fichas e aplicar uma vez">
            <a:extLst xmlns:a="http://schemas.openxmlformats.org/drawingml/2006/main">
              <a:ext uri="{FF2B5EF4-FFF2-40B4-BE49-F238E27FC236}">
                <a16:creationId xmlns:a16="http://schemas.microsoft.com/office/drawing/2014/main" id="{7561E733-94FD-43DD-8ECC-92660722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C2/C3: validar fichas e aplicar uma vez</a:t>
            </a:r>
          </a:p>
        </p:txBody>
      </p:sp>
      <p:sp>
        <p:nvSpPr>
          <p:cNvPr id="18" name="C4: orçamento e ação padrão">
            <a:extLst xmlns:a="http://schemas.openxmlformats.org/drawingml/2006/main">
              <a:ext uri="{FF2B5EF4-FFF2-40B4-BE49-F238E27FC236}">
                <a16:creationId xmlns:a16="http://schemas.microsoft.com/office/drawing/2014/main" id="{92A605C0-0502-417C-A8E9-7E02E662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67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C4: orçamento e ação padrão</a:t>
            </a:r>
          </a:p>
        </p:txBody>
      </p:sp>
    </p:spTree>
    <p:extLst>
      <p:ext uri="{BB962C8B-B14F-4D97-AF65-F5344CB8AC3E}">
        <p14:creationId xmlns:p14="http://schemas.microsoft.com/office/powerpoint/2010/main" val="491582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enários e avaliação dos riscos">
            <a:extLst xmlns:a="http://schemas.openxmlformats.org/drawingml/2006/main">
              <a:ext uri="{FF2B5EF4-FFF2-40B4-BE49-F238E27FC236}">
                <a16:creationId xmlns:a16="http://schemas.microsoft.com/office/drawing/2014/main" id="{3D7BE038-4AB0-4713-AE99-361357C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Cenários e avaliação dos riscos</a:t>
            </a:r>
          </a:p>
        </p:txBody>
      </p:sp>
      <p:sp>
        <p:nvSpPr>
          <p:cNvPr id="2" name="Grupo 7 · Poker Adversarial · 8/12">
            <a:extLst xmlns:a="http://schemas.openxmlformats.org/drawingml/2006/main">
              <a:ext uri="{FF2B5EF4-FFF2-40B4-BE49-F238E27FC236}">
                <a16:creationId xmlns:a16="http://schemas.microsoft.com/office/drawing/2014/main" id="{E8924BD9-8D6B-4175-AB2E-FE0AC22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8/12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6191250"/>
                <a:gridCol w="952500"/>
                <a:gridCol w="952500"/>
                <a:gridCol w="1952625"/>
              </a:tblGrid>
              <a:tr h="7572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Cenário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Risco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7572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Cartas privadas expostas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Ação ilegal altera estado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  <a:tr h="757238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T3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Decisão bloqueia a mão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 = sucesso da tentativa, supondo a fraqueza presente">
            <a:extLst xmlns:a="http://schemas.openxmlformats.org/drawingml/2006/main">
              <a:ext uri="{FF2B5EF4-FFF2-40B4-BE49-F238E27FC236}">
                <a16:creationId xmlns:a16="http://schemas.microsoft.com/office/drawing/2014/main" id="{58EA5865-92AA-40F9-AF4E-1AE24B38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P = sucesso da tentativa, supondo a fraqueza presente</a:t>
            </a:r>
          </a:p>
        </p:txBody>
      </p:sp>
      <p:sp>
        <p:nvSpPr>
          <p:cNvPr id="5" name="Leitura, ação inválida e bloqueio são diretos sem os controles.">
            <a:extLst xmlns:a="http://schemas.openxmlformats.org/drawingml/2006/main">
              <a:ext uri="{FF2B5EF4-FFF2-40B4-BE49-F238E27FC236}">
                <a16:creationId xmlns:a16="http://schemas.microsoft.com/office/drawing/2014/main" id="{F0F69C93-1F42-4FF1-A02A-641D4AE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Leitura, ação inválida e bloqueio são diretos sem os controles.</a:t>
            </a:r>
          </a:p>
        </p:txBody>
      </p:sp>
      <p:sp>
        <p:nvSpPr>
          <p:cNvPr id="6" name="Impacto: T1/T2 invalidam justiça. T3 interrompe o progresso.">
            <a:extLst xmlns:a="http://schemas.openxmlformats.org/drawingml/2006/main">
              <a:ext uri="{FF2B5EF4-FFF2-40B4-BE49-F238E27FC236}">
                <a16:creationId xmlns:a16="http://schemas.microsoft.com/office/drawing/2014/main" id="{7EF81933-48E8-4C0D-8763-2D3A15E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Impacto: T1/T2 invalidam justiça. T3 interrompe o progresso.</a:t>
            </a:r>
          </a:p>
        </p:txBody>
      </p:sp>
    </p:spTree>
    <p:extLst>
      <p:ext uri="{BB962C8B-B14F-4D97-AF65-F5344CB8AC3E}">
        <p14:creationId xmlns:p14="http://schemas.microsoft.com/office/powerpoint/2010/main" val="1720446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ioridade e próxima adaptação">
            <a:extLst xmlns:a="http://schemas.openxmlformats.org/drawingml/2006/main">
              <a:ext uri="{FF2B5EF4-FFF2-40B4-BE49-F238E27FC236}">
                <a16:creationId xmlns:a16="http://schemas.microsoft.com/office/drawing/2014/main" id="{ED2A4493-D3B3-4F87-AD6B-6FF9C3F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Prioridade e próxima adaptação</a:t>
            </a:r>
          </a:p>
        </p:txBody>
      </p:sp>
      <p:sp>
        <p:nvSpPr>
          <p:cNvPr id="2" name="Grupo 7 · Poker Adversarial · 9/12">
            <a:extLst xmlns:a="http://schemas.openxmlformats.org/drawingml/2006/main">
              <a:ext uri="{FF2B5EF4-FFF2-40B4-BE49-F238E27FC236}">
                <a16:creationId xmlns:a16="http://schemas.microsoft.com/office/drawing/2014/main" id="{DDA4B219-A17E-4659-B19B-758D6CA2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9/12</a:t>
            </a:r>
          </a:p>
        </p:txBody>
      </p:sp>
      <p:sp>
        <p:nvSpPr>
          <p:cNvPr id="3" name="T1 e T2 empatam em 9. A informação exposta não pode ser esquecida">
            <a:extLst xmlns:a="http://schemas.openxmlformats.org/drawingml/2006/main">
              <a:ext uri="{FF2B5EF4-FFF2-40B4-BE49-F238E27FC236}">
                <a16:creationId xmlns:a16="http://schemas.microsoft.com/office/drawing/2014/main" id="{5E22645F-D2FB-4596-AB07-577AEB4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T1 e T2 empatam em 9. A informação exposta não pode ser esquecida.</a:t>
            </a:r>
          </a:p>
        </p:txBody>
      </p:sp>
      <p:sp>
        <p:nvSpPr>
          <p:cNvPr id="4" name="Consulta campo privado">
            <a:extLst xmlns:a="http://schemas.openxmlformats.org/drawingml/2006/main">
              <a:ext uri="{FF2B5EF4-FFF2-40B4-BE49-F238E27FC236}">
                <a16:creationId xmlns:a16="http://schemas.microsoft.com/office/drawing/2014/main" id="{63CC6E9C-4F92-480B-B684-AAAAF3E7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Consulta campo privado</a:t>
            </a:r>
          </a:p>
        </p:txBody>
      </p:sp>
      <p:sp>
        <p:nvSpPr>
          <p:cNvPr id="5" name="Recebe visão filtrada">
            <a:extLst xmlns:a="http://schemas.openxmlformats.org/drawingml/2006/main">
              <a:ext uri="{FF2B5EF4-FFF2-40B4-BE49-F238E27FC236}">
                <a16:creationId xmlns:a16="http://schemas.microsoft.com/office/drawing/2014/main" id="{C3A4B6B8-E033-4AA2-AA9C-5A44B907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Recebe visão filtrada</a:t>
            </a:r>
          </a:p>
        </p:txBody>
      </p:sp>
      <p:sp>
        <p:nvSpPr>
          <p:cNvPr id="6" name="Procura no histórico">
            <a:extLst xmlns:a="http://schemas.openxmlformats.org/drawingml/2006/main">
              <a:ext uri="{FF2B5EF4-FFF2-40B4-BE49-F238E27FC236}">
                <a16:creationId xmlns:a16="http://schemas.microsoft.com/office/drawing/2014/main" id="{7C8ABE0D-D994-4B77-8745-0B9E835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Procura no histórico</a:t>
            </a:r>
          </a:p>
        </p:txBody>
      </p:sp>
      <p:sp>
        <p:nvSpPr>
          <p:cNvPr id="7" name="Histórico também filtrado">
            <a:extLst xmlns:a="http://schemas.openxmlformats.org/drawingml/2006/main">
              <a:ext uri="{FF2B5EF4-FFF2-40B4-BE49-F238E27FC236}">
                <a16:creationId xmlns:a16="http://schemas.microsoft.com/office/drawing/2014/main" id="{AA374612-16D0-4A86-A50D-11C9B181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Histórico também filtrado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30099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30099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810500" y="3448050"/>
            <a:ext cx="2143125" cy="1257300"/>
          </a:xfrm>
          <a:prstGeom xmlns:a="http://schemas.openxmlformats.org/drawingml/2006/main" prst="bentConnector5">
            <a:avLst>
              <a:gd name="adj1" fmla="val 0"/>
              <a:gd name="adj2" fmla="val 18182"/>
              <a:gd name="adj3" fmla="val 89333"/>
            </a:avLst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sp>
        <p:nvSpPr>
          <p:cNvPr id="11" name="Custo: filtro pode omitir informação pública necessária.">
            <a:extLst xmlns:a="http://schemas.openxmlformats.org/drawingml/2006/main">
              <a:ext uri="{FF2B5EF4-FFF2-40B4-BE49-F238E27FC236}">
                <a16:creationId xmlns:a16="http://schemas.microsoft.com/office/drawing/2014/main" id="{FF11DEA2-C3FF-4B75-A1DD-3A2D4835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Custo: filtro pode omitir informação pública necessária.</a:t>
            </a:r>
          </a:p>
        </p:txBody>
      </p:sp>
      <p:sp>
        <p:nvSpPr>
          <p:cNvPr id="12" name="Risco residual: outro canal pode expor dados. Sequência hipotétic">
            <a:extLst xmlns:a="http://schemas.openxmlformats.org/drawingml/2006/main">
              <a:ext uri="{FF2B5EF4-FFF2-40B4-BE49-F238E27FC236}">
                <a16:creationId xmlns:a16="http://schemas.microsoft.com/office/drawing/2014/main" id="{1EFF8C75-02EF-4D57-B8F3-2D918B6B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Risco residual: outro canal pode expor dados. Sequência hipotética.</a:t>
            </a:r>
          </a:p>
        </p:txBody>
      </p:sp>
    </p:spTree>
    <p:extLst>
      <p:ext uri="{BB962C8B-B14F-4D97-AF65-F5344CB8AC3E}">
        <p14:creationId xmlns:p14="http://schemas.microsoft.com/office/powerpoint/2010/main" val="755095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desenho e custos">
            <a:extLst xmlns:a="http://schemas.openxmlformats.org/drawingml/2006/main">
              <a:ext uri="{FF2B5EF4-FFF2-40B4-BE49-F238E27FC236}">
                <a16:creationId xmlns:a16="http://schemas.microsoft.com/office/drawing/2014/main" id="{DB716ABB-F3B2-4F12-8C61-5ACC22B7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Redesenho e custos</a:t>
            </a:r>
          </a:p>
        </p:txBody>
      </p:sp>
      <p:sp>
        <p:nvSpPr>
          <p:cNvPr id="2" name="Grupo 7 · Poker Adversarial · 10/12">
            <a:extLst xmlns:a="http://schemas.openxmlformats.org/drawingml/2006/main">
              <a:ext uri="{FF2B5EF4-FFF2-40B4-BE49-F238E27FC236}">
                <a16:creationId xmlns:a16="http://schemas.microsoft.com/office/drawing/2014/main" id="{5347C417-E905-425C-AAFD-D060FDD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10/12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45732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238500"/>
                <a:gridCol w="4095750"/>
              </a:tblGrid>
              <a:tr h="823913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Reação possível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 legítimo</a:t>
                      </a:r>
                    </a:p>
                  </a:txBody>
                  <a:tcPr marL="142875" marR="114300" marT="114300" marB="95250" anchor="ctr">
                    <a:solidFill>
                      <a:srgbClr val="143042"/>
                    </a:solidFill>
                  </a:tcPr>
                </a:tc>
              </a:tr>
              <a:tr h="823913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Filtrar visão e histórico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Buscar outra saída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Omitir dado público por erro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823913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Validar e aplicar uma vez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Testar fronteiras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Rejeitar ação válida por erro</a:t>
                      </a:r>
                    </a:p>
                  </a:txBody>
                  <a:tcPr marL="142875" marR="114300" marT="114300" marB="95250" anchor="ctr">
                    <a:solidFill>
                      <a:srgbClr val="F8FAFB"/>
                    </a:solidFill>
                  </a:tcPr>
                </a:tc>
              </a:tr>
              <a:tr h="823913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Orçamento de decisão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Responder perto do limite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143042"/>
                          </a:solidFill>
                          <a:latin typeface="Arial"/>
                          <a:ea typeface="Arial"/>
                          <a:cs typeface="Arial"/>
                        </a:rPr>
                        <a:t>Fold automático de agente lento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ção padrão: check quando legal, fold diante de aposta pendente.">
            <a:extLst xmlns:a="http://schemas.openxmlformats.org/drawingml/2006/main">
              <a:ext uri="{FF2B5EF4-FFF2-40B4-BE49-F238E27FC236}">
                <a16:creationId xmlns:a16="http://schemas.microsoft.com/office/drawing/2014/main" id="{EEC8EA07-129C-4124-BED4-192334A5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Ação padrão: check quando legal, fold diante de aposta pendente.</a:t>
            </a:r>
          </a:p>
        </p:txBody>
      </p:sp>
      <p:sp>
        <p:nvSpPr>
          <p:cNvPr id="5" name="Auditoria e invariantes ajudam a detectar falhas. O risco residua">
            <a:extLst xmlns:a="http://schemas.openxmlformats.org/drawingml/2006/main">
              <a:ext uri="{FF2B5EF4-FFF2-40B4-BE49-F238E27FC236}">
                <a16:creationId xmlns:a16="http://schemas.microsoft.com/office/drawing/2014/main" id="{86DC25DB-6EDF-4160-A787-A056FE01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Auditoria e invariantes ajudam a detectar falhas. O risco residual permanece.</a:t>
            </a:r>
          </a:p>
        </p:txBody>
      </p:sp>
    </p:spTree>
    <p:extLst>
      <p:ext uri="{BB962C8B-B14F-4D97-AF65-F5344CB8AC3E}">
        <p14:creationId xmlns:p14="http://schemas.microsoft.com/office/powerpoint/2010/main" val="770480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rquitetura para o Trabalho 2">
            <a:extLst xmlns:a="http://schemas.openxmlformats.org/drawingml/2006/main">
              <a:ext uri="{FF2B5EF4-FFF2-40B4-BE49-F238E27FC236}">
                <a16:creationId xmlns:a16="http://schemas.microsoft.com/office/drawing/2014/main" id="{2B261291-AFC2-4BB3-B74E-6451E78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Arquitetura para o Trabalho 2</a:t>
            </a:r>
          </a:p>
        </p:txBody>
      </p:sp>
      <p:sp>
        <p:nvSpPr>
          <p:cNvPr id="2" name="Grupo 7 · Poker Adversarial · 11/12">
            <a:extLst xmlns:a="http://schemas.openxmlformats.org/drawingml/2006/main">
              <a:ext uri="{FF2B5EF4-FFF2-40B4-BE49-F238E27FC236}">
                <a16:creationId xmlns:a16="http://schemas.microsoft.com/office/drawing/2014/main" id="{677E4621-77AC-4DAD-B473-2EB15AE6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11/12</a:t>
            </a:r>
          </a:p>
        </p:txBody>
      </p:sp>
      <p:sp>
        <p:nvSpPr>
          <p:cNvPr id="3" name="Motor e estado">
            <a:extLst xmlns:a="http://schemas.openxmlformats.org/drawingml/2006/main">
              <a:ext uri="{FF2B5EF4-FFF2-40B4-BE49-F238E27FC236}">
                <a16:creationId xmlns:a16="http://schemas.microsoft.com/office/drawing/2014/main" id="{234C62EA-0793-4E78-B8C6-A94A9333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524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Motor e estado</a:t>
            </a:r>
          </a:p>
        </p:txBody>
      </p:sp>
      <p:sp>
        <p:nvSpPr>
          <p:cNvPr id="4" name="Visão filtrada">
            <a:extLst xmlns:a="http://schemas.openxmlformats.org/drawingml/2006/main">
              <a:ext uri="{FF2B5EF4-FFF2-40B4-BE49-F238E27FC236}">
                <a16:creationId xmlns:a16="http://schemas.microsoft.com/office/drawing/2014/main" id="{5501ADF6-F6B2-4E9D-8BA3-D32AF396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2571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Visão filtrada</a:t>
            </a:r>
          </a:p>
        </p:txBody>
      </p:sp>
      <p:sp>
        <p:nvSpPr>
          <p:cNvPr id="5" name="Agente e executor">
            <a:extLst xmlns:a="http://schemas.openxmlformats.org/drawingml/2006/main">
              <a:ext uri="{FF2B5EF4-FFF2-40B4-BE49-F238E27FC236}">
                <a16:creationId xmlns:a16="http://schemas.microsoft.com/office/drawing/2014/main" id="{17CDFACB-FFBF-44E7-AA40-EFEC25B8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238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Agente e executor</a:t>
            </a:r>
          </a:p>
        </p:txBody>
      </p:sp>
      <p:sp>
        <p:nvSpPr>
          <p:cNvPr id="6" name="Validação">
            <a:extLst xmlns:a="http://schemas.openxmlformats.org/drawingml/2006/main">
              <a:ext uri="{FF2B5EF4-FFF2-40B4-BE49-F238E27FC236}">
                <a16:creationId xmlns:a16="http://schemas.microsoft.com/office/drawing/2014/main" id="{FD124136-D67F-4BA6-B14E-20C51829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238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7" name="Atualização e registro">
            <a:extLst xmlns:a="http://schemas.openxmlformats.org/drawingml/2006/main">
              <a:ext uri="{FF2B5EF4-FFF2-40B4-BE49-F238E27FC236}">
                <a16:creationId xmlns:a16="http://schemas.microsoft.com/office/drawing/2014/main" id="{0ADDCB0E-A79D-47BD-94CB-AB15E33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2571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3042"/>
            </a:solidFill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Atualização e registro</a:t>
            </a:r>
          </a:p>
        </p:txBody>
      </p:sp>
      <p:cxnSp>
        <p:nvCxnSpPr>
          <p:cNvPr id="4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95625" y="2090738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58000" y="20907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715500" y="2505075"/>
            <a:ext cx="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6858000" y="37480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7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833563" y="2505075"/>
            <a:ext cx="2452688" cy="124301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86274"/>
            </a:solidFill>
            <a:prstDash val="solid"/>
            <a:tailEnd type="triangle" w="sm" len="sm"/>
          </a:ln>
        </p:spPr>
      </p:cxnSp>
      <p:sp>
        <p:nvSpPr>
          <p:cNvPr id="13" name="Critérios: 220 fichas, visões autorizadas e ações aplicadas uma v">
            <a:extLst xmlns:a="http://schemas.openxmlformats.org/drawingml/2006/main">
              <a:ext uri="{FF2B5EF4-FFF2-40B4-BE49-F238E27FC236}">
                <a16:creationId xmlns:a16="http://schemas.microsoft.com/office/drawing/2014/main" id="{3D03A2C4-3641-453C-A0D8-75E98054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Critérios: 220 fichas, visões autorizadas e ações aplicadas uma vez.</a:t>
            </a:r>
          </a:p>
        </p:txBody>
      </p:sp>
      <p:sp>
        <p:nvSpPr>
          <p:cNvPr id="14" name="Estado: contribuição por etapa, valor a pagar e aumento mínimo.">
            <a:extLst xmlns:a="http://schemas.openxmlformats.org/drawingml/2006/main">
              <a:ext uri="{FF2B5EF4-FFF2-40B4-BE49-F238E27FC236}">
                <a16:creationId xmlns:a16="http://schemas.microsoft.com/office/drawing/2014/main" id="{95C766FC-49F7-4E15-BB26-D7BE017C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Estado: contribuição por etapa, valor a pagar e aumento mínimo.</a:t>
            </a:r>
          </a:p>
        </p:txBody>
      </p:sp>
      <p:sp>
        <p:nvSpPr>
          <p:cNvPr id="15" name="Registro privado: observação, mudança de política e custo.">
            <a:extLst xmlns:a="http://schemas.openxmlformats.org/drawingml/2006/main">
              <a:ext uri="{FF2B5EF4-FFF2-40B4-BE49-F238E27FC236}">
                <a16:creationId xmlns:a16="http://schemas.microsoft.com/office/drawing/2014/main" id="{B2A6E3E1-686F-4432-8392-3673A76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Registro privado: observação, mudança de política e custo.</a:t>
            </a:r>
          </a:p>
        </p:txBody>
      </p:sp>
      <p:sp>
        <p:nvSpPr>
          <p:cNvPr id="16" name="Planejamento de implementação. Critérios ainda não testados em mo">
            <a:extLst xmlns:a="http://schemas.openxmlformats.org/drawingml/2006/main">
              <a:ext uri="{FF2B5EF4-FFF2-40B4-BE49-F238E27FC236}">
                <a16:creationId xmlns:a16="http://schemas.microsoft.com/office/drawing/2014/main" id="{C2D91753-364F-415A-B68C-135D59DD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Planejamento de implementação. Critérios ainda não testados em motor funcional.</a:t>
            </a:r>
          </a:p>
        </p:txBody>
      </p:sp>
    </p:spTree>
    <p:extLst>
      <p:ext uri="{BB962C8B-B14F-4D97-AF65-F5344CB8AC3E}">
        <p14:creationId xmlns:p14="http://schemas.microsoft.com/office/powerpoint/2010/main" val="1523609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rendizado e propriedades preservadas">
            <a:extLst xmlns:a="http://schemas.openxmlformats.org/drawingml/2006/main">
              <a:ext uri="{FF2B5EF4-FFF2-40B4-BE49-F238E27FC236}">
                <a16:creationId xmlns:a16="http://schemas.microsoft.com/office/drawing/2014/main" id="{25AEE371-97B8-492F-88FB-3D50415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Aprendizado e propriedades preservadas</a:t>
            </a:r>
          </a:p>
        </p:txBody>
      </p:sp>
      <p:sp>
        <p:nvSpPr>
          <p:cNvPr id="2" name="Grupo 7 · Poker Adversarial · 12/12">
            <a:extLst xmlns:a="http://schemas.openxmlformats.org/drawingml/2006/main">
              <a:ext uri="{FF2B5EF4-FFF2-40B4-BE49-F238E27FC236}">
                <a16:creationId xmlns:a16="http://schemas.microsoft.com/office/drawing/2014/main" id="{F6B87696-541A-47FB-B728-3845961B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Grupo 7 · Poker Adversarial · 12/12</a:t>
            </a:r>
          </a:p>
        </p:txBody>
      </p:sp>
      <p:sp>
        <p:nvSpPr>
          <p:cNvPr id="3" name="O outro lado aprende com ações e limites observáveis">
            <a:extLst xmlns:a="http://schemas.openxmlformats.org/drawingml/2006/main">
              <a:ext uri="{FF2B5EF4-FFF2-40B4-BE49-F238E27FC236}">
                <a16:creationId xmlns:a16="http://schemas.microsoft.com/office/drawing/2014/main" id="{91E3030D-B2F9-4A7C-93BE-AF0C7F5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755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755E"/>
                </a:solidFill>
                <a:latin typeface="Arial"/>
                <a:ea typeface="Arial"/>
                <a:cs typeface="Arial"/>
              </a:rPr>
              <a:t>O outro lado aprende com ações e limites observáveis</a:t>
            </a:r>
          </a:p>
        </p:txBody>
      </p:sp>
      <p:sp>
        <p:nvSpPr>
          <p:cNvPr id="4" name="Pode rever blefes, decisões de pagar e caminhos de acesso à infor">
            <a:extLst xmlns:a="http://schemas.openxmlformats.org/drawingml/2006/main">
              <a:ext uri="{FF2B5EF4-FFF2-40B4-BE49-F238E27FC236}">
                <a16:creationId xmlns:a16="http://schemas.microsoft.com/office/drawing/2014/main" id="{D8CAD620-A6BB-4929-BE64-7D7750A2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104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042"/>
                </a:solidFill>
                <a:latin typeface="Arial"/>
                <a:ea typeface="Arial"/>
                <a:cs typeface="Arial"/>
              </a:rPr>
              <a:t>Pode rever blefes, decisões de pagar e caminhos de acesso à informação.</a:t>
            </a:r>
          </a:p>
        </p:txBody>
      </p:sp>
      <p:sp>
        <p:nvSpPr>
          <p:cNvPr id="5" name="O motor preserva sigilo, fichas e progresso da mão.">
            <a:extLst xmlns:a="http://schemas.openxmlformats.org/drawingml/2006/main">
              <a:ext uri="{FF2B5EF4-FFF2-40B4-BE49-F238E27FC236}">
                <a16:creationId xmlns:a16="http://schemas.microsoft.com/office/drawing/2014/main" id="{1FD3B433-2411-4BB1-B240-3C999D6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30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042"/>
                </a:solidFill>
                <a:latin typeface="Arial"/>
                <a:ea typeface="Arial"/>
                <a:cs typeface="Arial"/>
              </a:rPr>
              <a:t>O motor preserva sigilo, fichas e progresso da mão.</a:t>
            </a:r>
          </a:p>
        </p:txBody>
      </p:sp>
      <p:sp>
        <p:nvSpPr>
          <p:cNvPr id="6" name="Fontes: PokerStars (regras e mãos), MIT (teoria dos jogos)&#10;e OWAS">
            <a:extLst xmlns:a="http://schemas.openxmlformats.org/drawingml/2006/main">
              <a:ext uri="{FF2B5EF4-FFF2-40B4-BE49-F238E27FC236}">
                <a16:creationId xmlns:a16="http://schemas.microsoft.com/office/drawing/2014/main" id="{0F0C17CF-289B-4A84-B47B-1E2DA83A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Fontes: PokerStars (regras e mãos), MIT (teoria dos jogos)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e OWASP (ameaças, validação e registros). Links no relatório.</a:t>
            </a:r>
          </a:p>
        </p:txBody>
      </p:sp>
      <p:sp>
        <p:nvSpPr>
          <p:cNvPr id="7" name="Uso de IA: Codex na pesquisa, redação e produção dos materiais.&#10;R">
            <a:extLst xmlns:a="http://schemas.openxmlformats.org/drawingml/2006/main">
              <a:ext uri="{FF2B5EF4-FFF2-40B4-BE49-F238E27FC236}">
                <a16:creationId xmlns:a16="http://schemas.microsoft.com/office/drawing/2014/main" id="{B9C090B7-A1F3-4ABF-969E-A7CD5525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Uso de IA: Codex na pesquisa, redação e produção dos materiais.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4862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86274"/>
                </a:solidFill>
                <a:latin typeface="Arial"/>
                <a:ea typeface="Arial"/>
                <a:cs typeface="Arial"/>
              </a:rPr>
              <a:t>Declaração de IA e contribuições no relatório.</a:t>
            </a:r>
          </a:p>
        </p:txBody>
      </p:sp>
    </p:spTree>
    <p:extLst>
      <p:ext uri="{BB962C8B-B14F-4D97-AF65-F5344CB8AC3E}">
        <p14:creationId xmlns:p14="http://schemas.microsoft.com/office/powerpoint/2010/main" val="1365784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2026-10-06T14:32:50.8820000Z</dcterms:created>
  <dcterms:modified xsi:type="dcterms:W3CDTF">2026-10-06T14:32:50.8820000Z</dcterms:modified>
</coreProperties>
</file>