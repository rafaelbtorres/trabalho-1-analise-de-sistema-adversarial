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23309e45e24c4d" /><Relationship Type="http://schemas.openxmlformats.org/officeDocument/2006/relationships/extended-properties" Target="/docProps/app.xml" Id="R0f0d9d5cbbc04e3b" /><Relationship Type="http://schemas.openxmlformats.org/officeDocument/2006/relationships/officeDocument" Target="/ppt/presentation.xml" Id="Rccbfaaf1785d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95ab925b8b4433"/>
  </p:sldMasterIdLst>
  <p:notesMasterIdLst>
    <p:notesMasterId xmlns:r="http://schemas.openxmlformats.org/officeDocument/2006/relationships" r:id="R4fd242c4bdef4aee"/>
  </p:notesMasterIdLst>
  <p:sldIdLst>
    <p:sldId xmlns:r="http://schemas.openxmlformats.org/officeDocument/2006/relationships" id="256" r:id="R3cf794008aa64380"/>
    <p:sldId xmlns:r="http://schemas.openxmlformats.org/officeDocument/2006/relationships" id="257" r:id="Rec03260925b64d82"/>
    <p:sldId xmlns:r="http://schemas.openxmlformats.org/officeDocument/2006/relationships" id="258" r:id="R5e0b375ca10945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adcab20d440d1" /><Relationship Type="http://schemas.openxmlformats.org/officeDocument/2006/relationships/slideMaster" Target="/ppt/slideMasters/slideMaster1.xml" Id="R4095ab925b8b4433" /><Relationship Type="http://schemas.openxmlformats.org/officeDocument/2006/relationships/notesMaster" Target="/ppt/notesMasters/notesMaster1.xml" Id="R4fd242c4bdef4aee" /><Relationship Type="http://schemas.openxmlformats.org/officeDocument/2006/relationships/presProps" Target="/ppt/presProps.xml" Id="R4f0e3ff433f9415d" /><Relationship Type="http://schemas.openxmlformats.org/officeDocument/2006/relationships/tableStyles" Target="/ppt/tableStyles.xml" Id="Red77f74c712b46b7" /><Relationship Type="http://schemas.openxmlformats.org/officeDocument/2006/relationships/slide" Target="/ppt/slides/slide1.xml" Id="R3cf794008aa64380" /><Relationship Type="http://schemas.openxmlformats.org/officeDocument/2006/relationships/slide" Target="/ppt/slides/slide2.xml" Id="Rec03260925b64d82" /><Relationship Type="http://schemas.openxmlformats.org/officeDocument/2006/relationships/slide" Target="/ppt/slides/slide3.xml" Id="R5e0b375ca10945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92704461f9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4a039d21834031" /><Relationship Type="http://schemas.openxmlformats.org/officeDocument/2006/relationships/notesMaster" Target="/ppt/notesMasters/notesMaster1.xml" Id="Raca9ddfef2a645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ec9aa55e340be" /><Relationship Type="http://schemas.openxmlformats.org/officeDocument/2006/relationships/notesMaster" Target="/ppt/notesMasters/notesMaster1.xml" Id="R411d6bd3bffd4e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6413bff1cb48fb" /><Relationship Type="http://schemas.openxmlformats.org/officeDocument/2006/relationships/notesMaster" Target="/ppt/notesMasters/notesMaster1.xml" Id="Rc19a3863d0b4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05891dbe5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6a8aeb8fd043d8" /><Relationship Type="http://schemas.openxmlformats.org/officeDocument/2006/relationships/slideLayout" Target="/ppt/slideLayouts/slideLayout1.xml" Id="Ra151cc1618b4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51cc1618b4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8ca9325d646d3" /><Relationship Type="http://schemas.openxmlformats.org/officeDocument/2006/relationships/notesSlide" Target="/ppt/notesSlides/notesSlide1.xml" Id="Rc83a79c29e7e43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5e8ebab5d425a" /><Relationship Type="http://schemas.openxmlformats.org/officeDocument/2006/relationships/notesSlide" Target="/ppt/notesSlides/notesSlide2.xml" Id="R85ce1a49e76a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2832bd2204b00" /><Relationship Type="http://schemas.openxmlformats.org/officeDocument/2006/relationships/notesSlide" Target="/ppt/notesSlides/notesSlide3.xml" Id="R5434a465c23e45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ntexto do sistema">
            <a:extLst xmlns:a="http://schemas.openxmlformats.org/drawingml/2006/main">
              <a:ext uri="{FF2B5EF4-FFF2-40B4-BE49-F238E27FC236}">
                <a16:creationId xmlns:a16="http://schemas.microsoft.com/office/drawing/2014/main" id="{394640D4-17FD-4D16-B574-19F23075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Contexto do sistema</a:t>
            </a:r>
          </a:p>
        </p:txBody>
      </p:sp>
      <p:sp>
        <p:nvSpPr>
          <p:cNvPr id="2" name="Ações chegam ao motor. Visões filtradas retornam aos agentes.">
            <a:extLst xmlns:a="http://schemas.openxmlformats.org/drawingml/2006/main">
              <a:ext uri="{FF2B5EF4-FFF2-40B4-BE49-F238E27FC236}">
                <a16:creationId xmlns:a16="http://schemas.microsoft.com/office/drawing/2014/main" id="{48D1A573-D0C1-4DC5-9381-FF1987F5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Ações chegam ao motor. Visões filtradas retornam aos agentes.</a:t>
            </a:r>
          </a:p>
        </p:txBody>
      </p:sp>
      <p:sp>
        <p:nvSpPr>
          <p:cNvPr id="3" name="Agente A Ganhar fichas">
            <a:extLst xmlns:a="http://schemas.openxmlformats.org/drawingml/2006/main">
              <a:ext uri="{FF2B5EF4-FFF2-40B4-BE49-F238E27FC236}">
                <a16:creationId xmlns:a16="http://schemas.microsoft.com/office/drawing/2014/main" id="{A0E3A8DC-ED52-44F2-9EB6-9AE50A06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Agente A</a:t>
            </a:r>
          </a:p>
          <a:p xmlns:a="http://schemas.openxmlformats.org/drawingml/2006/main">
            <a:pPr algn="ctr"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Ganhar fichas</a:t>
            </a:r>
          </a:p>
        </p:txBody>
      </p:sp>
      <p:sp>
        <p:nvSpPr>
          <p:cNvPr id="4" name="Agente B Ganhar fichas">
            <a:extLst xmlns:a="http://schemas.openxmlformats.org/drawingml/2006/main">
              <a:ext uri="{FF2B5EF4-FFF2-40B4-BE49-F238E27FC236}">
                <a16:creationId xmlns:a16="http://schemas.microsoft.com/office/drawing/2014/main" id="{BE84A6EE-39E9-4900-92FB-C0F46575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Agente B</a:t>
            </a:r>
          </a:p>
          <a:p xmlns:a="http://schemas.openxmlformats.org/drawingml/2006/main">
            <a:pPr algn="ctr"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Ganhar fichas</a:t>
            </a:r>
          </a:p>
        </p:txBody>
      </p:sp>
      <p:sp>
        <p:nvSpPr>
          <p:cNvPr id="5" name="Motor da mão Pré-flop, river ou runout Valida raise e all-in">
            <a:extLst xmlns:a="http://schemas.openxmlformats.org/drawingml/2006/main">
              <a:ext uri="{FF2B5EF4-FFF2-40B4-BE49-F238E27FC236}">
                <a16:creationId xmlns:a16="http://schemas.microsoft.com/office/drawing/2014/main" id="{F07D7DD0-D941-4E6F-940E-3008D9F8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Motor da mão</a:t>
            </a:r>
          </a:p>
          <a:p xmlns:a="http://schemas.openxmlformats.org/drawingml/2006/main">
            <a:pPr algn="ctr">
              <a:defRPr sz="180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Pré-flop, river ou runout</a:t>
            </a:r>
          </a:p>
          <a:p xmlns:a="http://schemas.openxmlformats.org/drawingml/2006/main">
            <a:pPr algn="ctr">
              <a:defRPr sz="180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Valida raise e all-in</a:t>
            </a:r>
          </a:p>
        </p:txBody>
      </p:sp>
      <p:sp>
        <p:nvSpPr>
          <p:cNvPr id="6" name="Registro interno Auditoria após a mão">
            <a:extLst xmlns:a="http://schemas.openxmlformats.org/drawingml/2006/main">
              <a:ext uri="{FF2B5EF4-FFF2-40B4-BE49-F238E27FC236}">
                <a16:creationId xmlns:a16="http://schemas.microsoft.com/office/drawing/2014/main" id="{B3C2D89B-FCDC-4A13-A7F5-4653AA88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Registro interno</a:t>
            </a:r>
          </a:p>
          <a:p xmlns:a="http://schemas.openxmlformats.org/drawingml/2006/main">
            <a:pPr algn="ctr"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Auditoria após a mão</a:t>
            </a:r>
          </a:p>
        </p:txBody>
      </p:sp>
      <p:sp>
        <p:nvSpPr>
          <p:cNvPr id="7" name="Operador do grupo Analisa cenário">
            <a:extLst xmlns:a="http://schemas.openxmlformats.org/drawingml/2006/main">
              <a:ext uri="{FF2B5EF4-FFF2-40B4-BE49-F238E27FC236}">
                <a16:creationId xmlns:a16="http://schemas.microsoft.com/office/drawing/2014/main" id="{CE80A20C-DD56-4565-B0D0-CF5C1FC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86274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Operador do grupo</a:t>
            </a:r>
          </a:p>
          <a:p xmlns:a="http://schemas.openxmlformats.org/drawingml/2006/main">
            <a:pPr algn="ctr">
              <a:defRPr sz="18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Analisa cenário</a:t>
            </a:r>
          </a:p>
        </p:txBody>
      </p:sp>
      <p:sp>
        <p:nvSpPr>
          <p:cNvPr id="8" name="Preservar integridade, sigilo e progresso">
            <a:extLst xmlns:a="http://schemas.openxmlformats.org/drawingml/2006/main">
              <a:ext uri="{FF2B5EF4-FFF2-40B4-BE49-F238E27FC236}">
                <a16:creationId xmlns:a16="http://schemas.microsoft.com/office/drawing/2014/main" id="{E62EE2EE-4B41-4232-9BA9-279D9763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Preservar integridade,</a:t>
            </a:r>
          </a:p>
          <a:p xmlns:a="http://schemas.openxmlformats.org/drawingml/2006/main">
            <a:pPr algn="ctr">
              <a:defRPr sz="195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sigilo e progresso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300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620000" y="300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3714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5143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000250" y="3714750"/>
            <a:ext cx="40957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3103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iclo de ação, resposta e adaptação">
            <a:extLst xmlns:a="http://schemas.openxmlformats.org/drawingml/2006/main">
              <a:ext uri="{FF2B5EF4-FFF2-40B4-BE49-F238E27FC236}">
                <a16:creationId xmlns:a16="http://schemas.microsoft.com/office/drawing/2014/main" id="{F70E4754-6C4D-48D9-B27D-EBF7187C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Ciclo de ação, resposta e adaptação</a:t>
            </a:r>
          </a:p>
        </p:txBody>
      </p:sp>
      <p:sp>
        <p:nvSpPr>
          <p:cNvPr id="2" name="1. Pré-flop A raise para 20 (+15) B call (+10) 90 / 90, pote 40">
            <a:extLst xmlns:a="http://schemas.openxmlformats.org/drawingml/2006/main">
              <a:ext uri="{FF2B5EF4-FFF2-40B4-BE49-F238E27FC236}">
                <a16:creationId xmlns:a16="http://schemas.microsoft.com/office/drawing/2014/main" id="{88E94E49-F06E-4DBA-A019-A88C088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2667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1. Pré-flop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A raise para 20 (+15)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B call (+10)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90 / 90, pote 40</a:t>
            </a:r>
          </a:p>
        </p:txBody>
      </p:sp>
      <p:sp>
        <p:nvSpPr>
          <p:cNvPr id="3" name="2. Flop B check / A bet 10 B raise 20 / A call +10 70 / 70, pote 80">
            <a:extLst xmlns:a="http://schemas.openxmlformats.org/drawingml/2006/main">
              <a:ext uri="{FF2B5EF4-FFF2-40B4-BE49-F238E27FC236}">
                <a16:creationId xmlns:a16="http://schemas.microsoft.com/office/drawing/2014/main" id="{23B4977C-0625-41A9-A87E-9DBFD9E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62075"/>
            <a:ext cx="2667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2. Flop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B check / A bet 10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B raise 20 / A call +10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70 / 70, pote 80</a:t>
            </a:r>
          </a:p>
        </p:txBody>
      </p:sp>
      <p:sp>
        <p:nvSpPr>
          <p:cNvPr id="4" name="3. Turn B check / A check 70 / 70, pote 80">
            <a:extLst xmlns:a="http://schemas.openxmlformats.org/drawingml/2006/main">
              <a:ext uri="{FF2B5EF4-FFF2-40B4-BE49-F238E27FC236}">
                <a16:creationId xmlns:a16="http://schemas.microsoft.com/office/drawing/2014/main" id="{54189399-62E3-4201-B36D-A021513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62075"/>
            <a:ext cx="2667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3. Turn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B check / A check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70 / 70, pote 80</a:t>
            </a:r>
          </a:p>
        </p:txBody>
      </p:sp>
      <p:sp>
        <p:nvSpPr>
          <p:cNvPr id="5" name="4. River B check / A bet 20 B call 20 50 / 50, pote 120">
            <a:extLst xmlns:a="http://schemas.openxmlformats.org/drawingml/2006/main">
              <a:ext uri="{FF2B5EF4-FFF2-40B4-BE49-F238E27FC236}">
                <a16:creationId xmlns:a16="http://schemas.microsoft.com/office/drawing/2014/main" id="{FB9FC678-95D4-4AAB-84AC-81A7592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362075"/>
            <a:ext cx="2667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4. River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B check / A bet 20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B call 20</a:t>
            </a:r>
          </a:p>
          <a:p xmlns:a="http://schemas.openxmlformats.org/drawingml/2006/main">
            <a:pPr algn="ctr">
              <a:defRPr sz="1725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50 / 50, pote 120</a:t>
            </a:r>
          </a:p>
        </p:txBody>
      </p:sp>
      <p:cxnSp>
        <p:nvCxnSpPr>
          <p:cNvPr id="22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048000" y="210026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72175" y="210026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96350" y="210026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sp>
        <p:nvSpPr>
          <p:cNvPr id="9" name="A mantém teste.&#10;B mantém A interessado&#10;e prepara raise.">
            <a:extLst xmlns:a="http://schemas.openxmlformats.org/drawingml/2006/main">
              <a:ext uri="{FF2B5EF4-FFF2-40B4-BE49-F238E27FC236}">
                <a16:creationId xmlns:a16="http://schemas.microsoft.com/office/drawing/2014/main" id="{5CECC761-BE27-455C-A95D-FDF11404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 mantém teste.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B mantém A interessado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e prepara raise.</a:t>
            </a:r>
          </a:p>
        </p:txBody>
      </p:sp>
      <p:sp>
        <p:nvSpPr>
          <p:cNvPr id="10" name="A recua após raise.&#10;B vê call e troca&#10;aposta por indução.">
            <a:extLst xmlns:a="http://schemas.openxmlformats.org/drawingml/2006/main">
              <a:ext uri="{FF2B5EF4-FFF2-40B4-BE49-F238E27FC236}">
                <a16:creationId xmlns:a16="http://schemas.microsoft.com/office/drawing/2014/main" id="{AA18ACCC-7B26-44C8-84FE-61454A9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480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 recua após raise.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B vê call e troca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aposta por indução.</a:t>
            </a:r>
          </a:p>
        </p:txBody>
      </p:sp>
      <p:sp>
        <p:nvSpPr>
          <p:cNvPr id="11" name="A lê possível fraqueza.&#10;B observa recuo e&#10;mantém indução.">
            <a:extLst xmlns:a="http://schemas.openxmlformats.org/drawingml/2006/main">
              <a:ext uri="{FF2B5EF4-FFF2-40B4-BE49-F238E27FC236}">
                <a16:creationId xmlns:a16="http://schemas.microsoft.com/office/drawing/2014/main" id="{19568920-7CA5-4A09-A55C-A93FF34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 lê possível fraqueza.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B observa recuo e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mantém indução.</a:t>
            </a:r>
          </a:p>
        </p:txBody>
      </p:sp>
      <p:sp>
        <p:nvSpPr>
          <p:cNvPr id="12" name="B vence com trinca.&#10;A=50, B=170, pote=0.&#10;A revê leitura futura.">
            <a:extLst xmlns:a="http://schemas.openxmlformats.org/drawingml/2006/main">
              <a:ext uri="{FF2B5EF4-FFF2-40B4-BE49-F238E27FC236}">
                <a16:creationId xmlns:a16="http://schemas.microsoft.com/office/drawing/2014/main" id="{7C7FC91F-D7A5-4B21-9CD6-A2B7DFC0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480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B vence com trinca.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A=50, B=170, pote=0.</a:t>
            </a:r>
          </a:p>
          <a:p xmlns:a="http://schemas.openxmlformats.org/drawingml/2006/main">
            <a:pPr algn="l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 revê leitura futura.</a:t>
            </a:r>
          </a:p>
        </p:txBody>
      </p:sp>
      <p:sp>
        <p:nvSpPr>
          <p:cNvPr id="13" name="Custos: A expõe fichas. B pode perder aposta ou oferecer carta gr">
            <a:extLst xmlns:a="http://schemas.openxmlformats.org/drawingml/2006/main">
              <a:ext uri="{FF2B5EF4-FFF2-40B4-BE49-F238E27FC236}">
                <a16:creationId xmlns:a16="http://schemas.microsoft.com/office/drawing/2014/main" id="{89F936A9-8A85-4C51-B082-F74B8432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1143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Custos: A expõe fichas. B pode perder aposta ou oferecer carta gratuita.</a:t>
            </a:r>
          </a:p>
        </p:txBody>
      </p:sp>
      <p:sp>
        <p:nvSpPr>
          <p:cNvPr id="14" name="Alternativa no pré-flop: A all-in de 105, contribuição total 110">
            <a:extLst xmlns:a="http://schemas.openxmlformats.org/drawingml/2006/main">
              <a:ext uri="{FF2B5EF4-FFF2-40B4-BE49-F238E27FC236}">
                <a16:creationId xmlns:a16="http://schemas.microsoft.com/office/drawing/2014/main" id="{3B4AD446-F02D-4658-B39B-08557DBE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Alternativa no pré-flop: A all-in de 105, contribuição total 110</a:t>
            </a:r>
          </a:p>
        </p:txBody>
      </p:sp>
      <p:sp>
        <p:nvSpPr>
          <p:cNvPr id="15" name="B fold: A=120, B=100 Sem revelação obrigatória">
            <a:extLst xmlns:a="http://schemas.openxmlformats.org/drawingml/2006/main">
              <a:ext uri="{FF2B5EF4-FFF2-40B4-BE49-F238E27FC236}">
                <a16:creationId xmlns:a16="http://schemas.microsoft.com/office/drawing/2014/main" id="{8673ABF1-F2C5-48BA-BA5B-CED7B9A8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4830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86274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B fold: A=120, B=100</a:t>
            </a:r>
          </a:p>
          <a:p xmlns:a="http://schemas.openxmlformats.org/drawingml/2006/main">
            <a:pPr algn="ctr">
              <a:defRPr sz="18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Sem revelação obrigatória</a:t>
            </a:r>
          </a:p>
        </p:txBody>
      </p:sp>
      <p:sp>
        <p:nvSpPr>
          <p:cNvPr id="16" name="B call 100: runout sem apostas B vence, A=0, B=220">
            <a:extLst xmlns:a="http://schemas.openxmlformats.org/drawingml/2006/main">
              <a:ext uri="{FF2B5EF4-FFF2-40B4-BE49-F238E27FC236}">
                <a16:creationId xmlns:a16="http://schemas.microsoft.com/office/drawing/2014/main" id="{62DE7DE5-EC07-46D0-9E5C-A2463DC5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86274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B call 100: runout sem apostas</a:t>
            </a:r>
          </a:p>
          <a:p xmlns:a="http://schemas.openxmlformats.org/drawingml/2006/main">
            <a:pPr algn="ctr">
              <a:defRPr sz="18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B vence, A=0, B=220</a:t>
            </a:r>
          </a:p>
        </p:txBody>
      </p:sp>
    </p:spTree>
    <p:extLst>
      <p:ext uri="{BB962C8B-B14F-4D97-AF65-F5344CB8AC3E}">
        <p14:creationId xmlns:p14="http://schemas.microsoft.com/office/powerpoint/2010/main" val="48680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perfície de ataque">
            <a:extLst xmlns:a="http://schemas.openxmlformats.org/drawingml/2006/main">
              <a:ext uri="{FF2B5EF4-FFF2-40B4-BE49-F238E27FC236}">
                <a16:creationId xmlns:a16="http://schemas.microsoft.com/office/drawing/2014/main" id="{0D48801C-33CD-4A87-84F2-35871AFC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Superfície de ataque</a:t>
            </a:r>
          </a:p>
        </p:txBody>
      </p:sp>
      <p:sp>
        <p:nvSpPr>
          <p:cNvPr id="2" name="Módulo adversarial">
            <a:extLst xmlns:a="http://schemas.openxmlformats.org/drawingml/2006/main">
              <a:ext uri="{FF2B5EF4-FFF2-40B4-BE49-F238E27FC236}">
                <a16:creationId xmlns:a16="http://schemas.microsoft.com/office/drawing/2014/main" id="{1E74743E-039B-4EC5-9AFD-FCB3112A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2524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Módulo adversarial</a:t>
            </a:r>
          </a:p>
        </p:txBody>
      </p:sp>
      <p:sp>
        <p:nvSpPr>
          <p:cNvPr id="3" name="T1: visão e histórico Campo privado sem filtro Falha de P1">
            <a:extLst xmlns:a="http://schemas.openxmlformats.org/drawingml/2006/main">
              <a:ext uri="{FF2B5EF4-FFF2-40B4-BE49-F238E27FC236}">
                <a16:creationId xmlns:a16="http://schemas.microsoft.com/office/drawing/2014/main" id="{7D5E2505-46A1-4375-B20C-52F1761A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T1: visão e histórico</a:t>
            </a:r>
          </a:p>
          <a:p xmlns:a="http://schemas.openxmlformats.org/drawingml/2006/main">
            <a:pPr algn="ctr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Campo privado sem filtro</a:t>
            </a:r>
          </a:p>
          <a:p xmlns:a="http://schemas.openxmlformats.org/drawingml/2006/main">
            <a:pPr algn="ctr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Falha de P1</a:t>
            </a:r>
          </a:p>
        </p:txBody>
      </p:sp>
      <p:sp>
        <p:nvSpPr>
          <p:cNvPr id="4" name="T2: entrada de ações Raise, call ou devolução inválidos Falha de P2">
            <a:extLst xmlns:a="http://schemas.openxmlformats.org/drawingml/2006/main">
              <a:ext uri="{FF2B5EF4-FFF2-40B4-BE49-F238E27FC236}">
                <a16:creationId xmlns:a16="http://schemas.microsoft.com/office/drawing/2014/main" id="{D4B75836-CAC3-4417-AA0F-809E8F88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T2: entrada de ações</a:t>
            </a:r>
          </a:p>
          <a:p xmlns:a="http://schemas.openxmlformats.org/drawingml/2006/main">
            <a:pPr algn="ctr">
              <a:defRPr sz="16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Raise, call ou devolução inválidos</a:t>
            </a:r>
          </a:p>
          <a:p xmlns:a="http://schemas.openxmlformats.org/drawingml/2006/main">
            <a:pPr algn="ctr">
              <a:defRPr sz="16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Falha de P2</a:t>
            </a:r>
          </a:p>
        </p:txBody>
      </p:sp>
      <p:sp>
        <p:nvSpPr>
          <p:cNvPr id="5" name="T3: executor Decisão sem limite Falha de P3">
            <a:extLst xmlns:a="http://schemas.openxmlformats.org/drawingml/2006/main">
              <a:ext uri="{FF2B5EF4-FFF2-40B4-BE49-F238E27FC236}">
                <a16:creationId xmlns:a16="http://schemas.microsoft.com/office/drawing/2014/main" id="{B5A0F386-4A7E-4EE1-9173-F35E2D14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T3: executor</a:t>
            </a:r>
          </a:p>
          <a:p xmlns:a="http://schemas.openxmlformats.org/drawingml/2006/main">
            <a:pPr algn="ctr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Decisão sem limite</a:t>
            </a:r>
          </a:p>
          <a:p xmlns:a="http://schemas.openxmlformats.org/drawingml/2006/main">
            <a:pPr algn="ctr"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Falha de P3</a:t>
            </a:r>
          </a:p>
        </p:txBody>
      </p:sp>
      <p:sp>
        <p:nvSpPr>
          <p:cNvPr id="6" name="Sigilo e justiça Risco 9">
            <a:extLst xmlns:a="http://schemas.openxmlformats.org/drawingml/2006/main">
              <a:ext uri="{FF2B5EF4-FFF2-40B4-BE49-F238E27FC236}">
                <a16:creationId xmlns:a16="http://schemas.microsoft.com/office/drawing/2014/main" id="{8A7CD40B-F4C9-4EF2-B072-E2B725D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7353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Sigilo e justiça</a:t>
            </a:r>
          </a:p>
          <a:p xmlns:a="http://schemas.openxmlformats.org/drawingml/2006/main">
            <a:pPr algn="ctr"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Risco 9</a:t>
            </a:r>
          </a:p>
        </p:txBody>
      </p:sp>
      <p:sp>
        <p:nvSpPr>
          <p:cNvPr id="7" name="Integridade e fichas Risco 9">
            <a:extLst xmlns:a="http://schemas.openxmlformats.org/drawingml/2006/main">
              <a:ext uri="{FF2B5EF4-FFF2-40B4-BE49-F238E27FC236}">
                <a16:creationId xmlns:a16="http://schemas.microsoft.com/office/drawing/2014/main" id="{FE9E39D3-B59F-4050-B95B-2AC975A3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8612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7353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Integridade e fichas</a:t>
            </a:r>
          </a:p>
          <a:p xmlns:a="http://schemas.openxmlformats.org/drawingml/2006/main">
            <a:pPr algn="ctr"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Risco 9</a:t>
            </a:r>
          </a:p>
        </p:txBody>
      </p:sp>
      <p:sp>
        <p:nvSpPr>
          <p:cNvPr id="8" name="Progresso Risco 6">
            <a:extLst xmlns:a="http://schemas.openxmlformats.org/drawingml/2006/main">
              <a:ext uri="{FF2B5EF4-FFF2-40B4-BE49-F238E27FC236}">
                <a16:creationId xmlns:a16="http://schemas.microsoft.com/office/drawing/2014/main" id="{063888D8-FA88-4F65-8FA0-DE687BE0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0537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7353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Progresso</a:t>
            </a:r>
          </a:p>
          <a:p xmlns:a="http://schemas.openxmlformats.org/drawingml/2006/main">
            <a:pPr algn="ctr"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Risco 6</a:t>
            </a:r>
          </a:p>
        </p:txBody>
      </p:sp>
      <p:cxnSp>
        <p:nvCxnSpPr>
          <p:cNvPr id="26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3095625" y="2000250"/>
            <a:ext cx="1285875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95625" y="3438525"/>
            <a:ext cx="128587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3438525"/>
            <a:ext cx="1285875" cy="1800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20002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619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10500" y="52387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sp>
        <p:nvSpPr>
          <p:cNvPr id="15" name="C1: filtrar saídas">
            <a:extLst xmlns:a="http://schemas.openxmlformats.org/drawingml/2006/main">
              <a:ext uri="{FF2B5EF4-FFF2-40B4-BE49-F238E27FC236}">
                <a16:creationId xmlns:a16="http://schemas.microsoft.com/office/drawing/2014/main" id="{B0C996C1-D7B0-4D8C-8BDC-C16EEF56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C1: filtrar saídas</a:t>
            </a:r>
          </a:p>
        </p:txBody>
      </p:sp>
      <p:sp>
        <p:nvSpPr>
          <p:cNvPr id="16" name="C2/C3: validar fichas e aplicar uma vez">
            <a:extLst xmlns:a="http://schemas.openxmlformats.org/drawingml/2006/main">
              <a:ext uri="{FF2B5EF4-FFF2-40B4-BE49-F238E27FC236}">
                <a16:creationId xmlns:a16="http://schemas.microsoft.com/office/drawing/2014/main" id="{A6776C77-2F1F-4705-8ED7-ABCBCD2D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C2/C3: validar fichas e aplicar uma vez</a:t>
            </a:r>
          </a:p>
        </p:txBody>
      </p:sp>
      <p:sp>
        <p:nvSpPr>
          <p:cNvPr id="17" name="C4: orçamento e ação padrão">
            <a:extLst xmlns:a="http://schemas.openxmlformats.org/drawingml/2006/main">
              <a:ext uri="{FF2B5EF4-FFF2-40B4-BE49-F238E27FC236}">
                <a16:creationId xmlns:a16="http://schemas.microsoft.com/office/drawing/2014/main" id="{2FA2FFFC-DA32-4965-A04C-E1ED3319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67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C4: orçamento e ação padrão</a:t>
            </a:r>
          </a:p>
        </p:txBody>
      </p:sp>
    </p:spTree>
    <p:extLst>
      <p:ext uri="{BB962C8B-B14F-4D97-AF65-F5344CB8AC3E}">
        <p14:creationId xmlns:p14="http://schemas.microsoft.com/office/powerpoint/2010/main" val="1244758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2026-10-06T13:50:32.7900000Z</dcterms:created>
  <dcterms:modified xsi:type="dcterms:W3CDTF">2026-10-06T13:50:32.7900000Z</dcterms:modified>
</coreProperties>
</file>