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e2580bdf87d40f8" /><Relationship Type="http://schemas.openxmlformats.org/officeDocument/2006/relationships/extended-properties" Target="/docProps/app.xml" Id="R329a0c7049aa4f74" /><Relationship Type="http://schemas.openxmlformats.org/officeDocument/2006/relationships/officeDocument" Target="/ppt/presentation.xml" Id="R5c013ad8f49e404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62df2ffb598456c"/>
  </p:sldMasterIdLst>
  <p:notesMasterIdLst>
    <p:notesMasterId xmlns:r="http://schemas.openxmlformats.org/officeDocument/2006/relationships" r:id="Re2fe82858b164788"/>
  </p:notesMasterIdLst>
  <p:sldIdLst>
    <p:sldId xmlns:r="http://schemas.openxmlformats.org/officeDocument/2006/relationships" id="256" r:id="R28759c35a2714129"/>
    <p:sldId xmlns:r="http://schemas.openxmlformats.org/officeDocument/2006/relationships" id="257" r:id="R03253c27a2c543a6"/>
    <p:sldId xmlns:r="http://schemas.openxmlformats.org/officeDocument/2006/relationships" id="258" r:id="R018003d93f3342e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7d7f718015e4e00" /><Relationship Type="http://schemas.openxmlformats.org/officeDocument/2006/relationships/slideMaster" Target="/ppt/slideMasters/slideMaster1.xml" Id="R362df2ffb598456c" /><Relationship Type="http://schemas.openxmlformats.org/officeDocument/2006/relationships/notesMaster" Target="/ppt/notesMasters/notesMaster1.xml" Id="Re2fe82858b164788" /><Relationship Type="http://schemas.openxmlformats.org/officeDocument/2006/relationships/presProps" Target="/ppt/presProps.xml" Id="Re4ab24d04fa94e0d" /><Relationship Type="http://schemas.openxmlformats.org/officeDocument/2006/relationships/tableStyles" Target="/ppt/tableStyles.xml" Id="R647ae97b10914d51" /><Relationship Type="http://schemas.openxmlformats.org/officeDocument/2006/relationships/slide" Target="/ppt/slides/slide1.xml" Id="R28759c35a2714129" /><Relationship Type="http://schemas.openxmlformats.org/officeDocument/2006/relationships/slide" Target="/ppt/slides/slide2.xml" Id="R03253c27a2c543a6" /><Relationship Type="http://schemas.openxmlformats.org/officeDocument/2006/relationships/slide" Target="/ppt/slides/slide3.xml" Id="R018003d93f3342e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fe3027dd188487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eadf47d162345cd" /><Relationship Type="http://schemas.openxmlformats.org/officeDocument/2006/relationships/notesMaster" Target="/ppt/notesMasters/notesMaster1.xml" Id="R0b5fe2689a2f452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1e20513c36c4fa4" /><Relationship Type="http://schemas.openxmlformats.org/officeDocument/2006/relationships/notesMaster" Target="/ppt/notesMasters/notesMaster1.xml" Id="Reabab243997547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67af080ec964369" /><Relationship Type="http://schemas.openxmlformats.org/officeDocument/2006/relationships/notesMaster" Target="/ppt/notesMasters/notesMaster1.xml" Id="R5d2b47251c12443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9de8bcb82047d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edae767b049448d" /><Relationship Type="http://schemas.openxmlformats.org/officeDocument/2006/relationships/slideLayout" Target="/ppt/slideLayouts/slideLayout1.xml" Id="R36f4c2809f8a485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f4c2809f8a485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f1b225e1474855" /><Relationship Type="http://schemas.openxmlformats.org/officeDocument/2006/relationships/notesSlide" Target="/ppt/notesSlides/notesSlide1.xml" Id="R03b21bbd25b14d0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053e496ed94078" /><Relationship Type="http://schemas.openxmlformats.org/officeDocument/2006/relationships/notesSlide" Target="/ppt/notesSlides/notesSlide2.xml" Id="R2a1dda578bb0408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0099b88909486f" /><Relationship Type="http://schemas.openxmlformats.org/officeDocument/2006/relationships/notesSlide" Target="/ppt/notesSlides/notesSlide3.xml" Id="R93deabf16a71494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Contexto do sistema">
            <a:extLst xmlns:a="http://schemas.openxmlformats.org/drawingml/2006/main">
              <a:ext uri="{FF2B5EF4-FFF2-40B4-BE49-F238E27FC236}">
                <a16:creationId xmlns:a16="http://schemas.microsoft.com/office/drawing/2014/main" id="{8A2377AF-BC36-4C17-AB0E-DBBEB6F26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Contexto do sistema</a:t>
            </a:r>
          </a:p>
        </p:txBody>
      </p:sp>
      <p:sp>
        <p:nvSpPr>
          <p:cNvPr id="2" name="Ações chegam ao motor. Visões filtradas retornam aos agentes.">
            <a:extLst xmlns:a="http://schemas.openxmlformats.org/drawingml/2006/main">
              <a:ext uri="{FF2B5EF4-FFF2-40B4-BE49-F238E27FC236}">
                <a16:creationId xmlns:a16="http://schemas.microsoft.com/office/drawing/2014/main" id="{581D2987-E35A-497B-9A10-03E3BD9E0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85875"/>
            <a:ext cx="11049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Ações chegam ao motor. Visões filtradas retornam aos agentes.</a:t>
            </a:r>
          </a:p>
        </p:txBody>
      </p:sp>
      <p:sp>
        <p:nvSpPr>
          <p:cNvPr id="3" name="Agente A Ganhar fichas">
            <a:extLst xmlns:a="http://schemas.openxmlformats.org/drawingml/2006/main">
              <a:ext uri="{FF2B5EF4-FFF2-40B4-BE49-F238E27FC236}">
                <a16:creationId xmlns:a16="http://schemas.microsoft.com/office/drawing/2014/main" id="{3743FD64-CC68-4ABC-9969-349BEAE8C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2857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Agente A</a:t>
            </a:r>
          </a:p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Ganhar fichas</a:t>
            </a:r>
          </a:p>
        </p:txBody>
      </p:sp>
      <p:sp>
        <p:nvSpPr>
          <p:cNvPr id="4" name="Agente B Ganhar fichas">
            <a:extLst xmlns:a="http://schemas.openxmlformats.org/drawingml/2006/main">
              <a:ext uri="{FF2B5EF4-FFF2-40B4-BE49-F238E27FC236}">
                <a16:creationId xmlns:a16="http://schemas.microsoft.com/office/drawing/2014/main" id="{67F43DC0-60FD-4E3C-8F04-DBA35AA49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28875"/>
            <a:ext cx="2857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Agente B</a:t>
            </a:r>
          </a:p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Ganhar fichas</a:t>
            </a:r>
          </a:p>
        </p:txBody>
      </p:sp>
      <p:sp>
        <p:nvSpPr>
          <p:cNvPr id="5" name="Motor da mão Valida e contabiliza Fornece visões filtradas">
            <a:extLst xmlns:a="http://schemas.openxmlformats.org/drawingml/2006/main">
              <a:ext uri="{FF2B5EF4-FFF2-40B4-BE49-F238E27FC236}">
                <a16:creationId xmlns:a16="http://schemas.microsoft.com/office/drawing/2014/main" id="{38CCFEE5-D8E0-41C6-94BA-51D508A5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86000"/>
            <a:ext cx="3048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15240">
            <a:solidFill>
              <a:srgbClr val="14755E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755E"/>
                </a:solidFill>
                <a:latin typeface="Arial"/>
                <a:ea typeface="Arial"/>
                <a:cs typeface="Arial"/>
              </a:rPr>
              <a:t>Motor da mão</a:t>
            </a:r>
          </a:p>
          <a:p xmlns:a="http://schemas.openxmlformats.org/drawingml/2006/main">
            <a:pPr algn="ctr">
              <a:defRPr sz="1950" b="0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755E"/>
                </a:solidFill>
                <a:latin typeface="Arial"/>
                <a:ea typeface="Arial"/>
                <a:cs typeface="Arial"/>
              </a:rPr>
              <a:t>Valida e contabiliza</a:t>
            </a:r>
          </a:p>
          <a:p xmlns:a="http://schemas.openxmlformats.org/drawingml/2006/main">
            <a:pPr algn="ctr">
              <a:defRPr sz="1950" b="0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755E"/>
                </a:solidFill>
                <a:latin typeface="Arial"/>
                <a:ea typeface="Arial"/>
                <a:cs typeface="Arial"/>
              </a:rPr>
              <a:t>Fornece visões filtradas</a:t>
            </a:r>
          </a:p>
        </p:txBody>
      </p:sp>
      <p:sp>
        <p:nvSpPr>
          <p:cNvPr id="6" name="Registro interno Auditoria após a mão">
            <a:extLst xmlns:a="http://schemas.openxmlformats.org/drawingml/2006/main">
              <a:ext uri="{FF2B5EF4-FFF2-40B4-BE49-F238E27FC236}">
                <a16:creationId xmlns:a16="http://schemas.microsoft.com/office/drawing/2014/main" id="{A36814B4-CCB9-4CC3-8A1E-EC4C54F2D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667250"/>
            <a:ext cx="3048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Registro interno</a:t>
            </a:r>
          </a:p>
          <a:p xmlns:a="http://schemas.openxmlformats.org/drawingml/2006/main">
            <a:pPr algn="ctr">
              <a:defRPr sz="187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Auditoria após a mão</a:t>
            </a:r>
          </a:p>
        </p:txBody>
      </p:sp>
      <p:sp>
        <p:nvSpPr>
          <p:cNvPr id="7" name="Operador do grupo Analisa cenário">
            <a:extLst xmlns:a="http://schemas.openxmlformats.org/drawingml/2006/main">
              <a:ext uri="{FF2B5EF4-FFF2-40B4-BE49-F238E27FC236}">
                <a16:creationId xmlns:a16="http://schemas.microsoft.com/office/drawing/2014/main" id="{902CF691-28CF-4639-856E-A6EF89D09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667250"/>
            <a:ext cx="2857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486274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Operador do grupo</a:t>
            </a:r>
          </a:p>
          <a:p xmlns:a="http://schemas.openxmlformats.org/drawingml/2006/main">
            <a:pPr algn="ctr">
              <a:defRPr sz="1800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Analisa cenário</a:t>
            </a:r>
          </a:p>
        </p:txBody>
      </p:sp>
      <p:sp>
        <p:nvSpPr>
          <p:cNvPr id="8" name="Preservar integridade, sigilo e progresso">
            <a:extLst xmlns:a="http://schemas.openxmlformats.org/drawingml/2006/main">
              <a:ext uri="{FF2B5EF4-FFF2-40B4-BE49-F238E27FC236}">
                <a16:creationId xmlns:a16="http://schemas.microsoft.com/office/drawing/2014/main" id="{087123C2-29B2-427F-A056-72E55EA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0"/>
            <a:ext cx="2857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15240">
            <a:solidFill>
              <a:srgbClr val="14755E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755E"/>
                </a:solidFill>
                <a:latin typeface="Arial"/>
                <a:ea typeface="Arial"/>
                <a:cs typeface="Arial"/>
              </a:rPr>
              <a:t>Preservar integridade,</a:t>
            </a:r>
          </a:p>
          <a:p xmlns:a="http://schemas.openxmlformats.org/drawingml/2006/main">
            <a:pPr algn="ctr">
              <a:defRPr sz="1950" b="0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755E"/>
                </a:solidFill>
                <a:latin typeface="Arial"/>
                <a:ea typeface="Arial"/>
                <a:cs typeface="Arial"/>
              </a:rPr>
              <a:t>sigilo e progresso</a:t>
            </a:r>
          </a:p>
        </p:txBody>
      </p:sp>
      <p:cxnSp>
        <p:nvCxnSpPr>
          <p:cNvPr id="22" name=""/>
          <p:cNvCxnSpPr>
            <a:stCxn xmlns:a="http://schemas.openxmlformats.org/drawingml/2006/main" id="3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429000" y="3000375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23" name=""/>
          <p:cNvCxnSpPr>
            <a:stCxn xmlns:a="http://schemas.openxmlformats.org/drawingml/2006/main" id="4" idx="1"/>
            <a:endCxn xmlns:a="http://schemas.openxmlformats.org/drawingml/2006/main" id="5" idx="3"/>
          </p:cNvCxnSpPr>
          <p:nvPr/>
        </p:nvCxnSpPr>
        <p:spPr>
          <a:xfrm xmlns:a="http://schemas.openxmlformats.org/drawingml/2006/main" flipH="1">
            <a:off x="7620000" y="3000375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24" name=""/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6096000" y="3714750"/>
            <a:ext cx="0" cy="9525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25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620000" y="5143500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26" name=""/>
          <p:cNvCxnSpPr>
            <a:stCxn xmlns:a="http://schemas.openxmlformats.org/drawingml/2006/main" id="5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 flipH="1">
            <a:off x="2000250" y="3714750"/>
            <a:ext cx="4095750" cy="9525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4333888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iclo de ação, resposta e adaptação">
            <a:extLst xmlns:a="http://schemas.openxmlformats.org/drawingml/2006/main">
              <a:ext uri="{FF2B5EF4-FFF2-40B4-BE49-F238E27FC236}">
                <a16:creationId xmlns:a16="http://schemas.microsoft.com/office/drawing/2014/main" id="{C9B77D01-747D-421D-8762-514B0E345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Ciclo de ação, resposta e adaptação</a:t>
            </a:r>
          </a:p>
        </p:txBody>
      </p:sp>
      <p:sp>
        <p:nvSpPr>
          <p:cNvPr id="2" name="1. Flop A bet 10 / B call A=90 B=90 pote=40">
            <a:extLst xmlns:a="http://schemas.openxmlformats.org/drawingml/2006/main">
              <a:ext uri="{FF2B5EF4-FFF2-40B4-BE49-F238E27FC236}">
                <a16:creationId xmlns:a16="http://schemas.microsoft.com/office/drawing/2014/main" id="{20C4C725-B0BB-422F-9310-4C8ECE6EF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31432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15240">
            <a:solidFill>
              <a:srgbClr val="14755E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755E"/>
                </a:solidFill>
                <a:latin typeface="Arial"/>
                <a:ea typeface="Arial"/>
                <a:cs typeface="Arial"/>
              </a:rPr>
              <a:t>1. Flop</a:t>
            </a:r>
          </a:p>
          <a:p xmlns:a="http://schemas.openxmlformats.org/drawingml/2006/main">
            <a:pPr algn="ctr">
              <a:defRPr sz="1950" b="0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755E"/>
                </a:solidFill>
                <a:latin typeface="Arial"/>
                <a:ea typeface="Arial"/>
                <a:cs typeface="Arial"/>
              </a:rPr>
              <a:t>A bet 10 / B call</a:t>
            </a:r>
          </a:p>
          <a:p xmlns:a="http://schemas.openxmlformats.org/drawingml/2006/main">
            <a:pPr algn="ctr">
              <a:defRPr sz="1950" b="0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755E"/>
                </a:solidFill>
                <a:latin typeface="Arial"/>
                <a:ea typeface="Arial"/>
                <a:cs typeface="Arial"/>
              </a:rPr>
              <a:t>A=90 B=90 pote=40</a:t>
            </a:r>
          </a:p>
        </p:txBody>
      </p:sp>
      <p:sp>
        <p:nvSpPr>
          <p:cNvPr id="3" name="2. Turn Check / check A=90 B=90 pote=40">
            <a:extLst xmlns:a="http://schemas.openxmlformats.org/drawingml/2006/main">
              <a:ext uri="{FF2B5EF4-FFF2-40B4-BE49-F238E27FC236}">
                <a16:creationId xmlns:a16="http://schemas.microsoft.com/office/drawing/2014/main" id="{29C702B4-4DD5-492A-A160-91CF60F7D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476375"/>
            <a:ext cx="31432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15240">
            <a:solidFill>
              <a:srgbClr val="14755E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755E"/>
                </a:solidFill>
                <a:latin typeface="Arial"/>
                <a:ea typeface="Arial"/>
                <a:cs typeface="Arial"/>
              </a:rPr>
              <a:t>2. Turn</a:t>
            </a:r>
          </a:p>
          <a:p xmlns:a="http://schemas.openxmlformats.org/drawingml/2006/main">
            <a:pPr algn="ctr">
              <a:defRPr sz="1950" b="0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755E"/>
                </a:solidFill>
                <a:latin typeface="Arial"/>
                <a:ea typeface="Arial"/>
                <a:cs typeface="Arial"/>
              </a:rPr>
              <a:t>Check / check</a:t>
            </a:r>
          </a:p>
          <a:p xmlns:a="http://schemas.openxmlformats.org/drawingml/2006/main">
            <a:pPr algn="ctr">
              <a:defRPr sz="1950" b="0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755E"/>
                </a:solidFill>
                <a:latin typeface="Arial"/>
                <a:ea typeface="Arial"/>
                <a:cs typeface="Arial"/>
              </a:rPr>
              <a:t>A=90 B=90 pote=40</a:t>
            </a:r>
          </a:p>
        </p:txBody>
      </p:sp>
      <p:sp>
        <p:nvSpPr>
          <p:cNvPr id="4" name="3. River A bet 20 / B call A=70 B=70 pote=80">
            <a:extLst xmlns:a="http://schemas.openxmlformats.org/drawingml/2006/main">
              <a:ext uri="{FF2B5EF4-FFF2-40B4-BE49-F238E27FC236}">
                <a16:creationId xmlns:a16="http://schemas.microsoft.com/office/drawing/2014/main" id="{A8018598-8A59-4643-903A-CEF863A25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476375"/>
            <a:ext cx="31432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15240">
            <a:solidFill>
              <a:srgbClr val="14755E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755E"/>
                </a:solidFill>
                <a:latin typeface="Arial"/>
                <a:ea typeface="Arial"/>
                <a:cs typeface="Arial"/>
              </a:rPr>
              <a:t>3. River</a:t>
            </a:r>
          </a:p>
          <a:p xmlns:a="http://schemas.openxmlformats.org/drawingml/2006/main">
            <a:pPr algn="ctr">
              <a:defRPr sz="1950" b="0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755E"/>
                </a:solidFill>
                <a:latin typeface="Arial"/>
                <a:ea typeface="Arial"/>
                <a:cs typeface="Arial"/>
              </a:rPr>
              <a:t>A bet 20 / B call</a:t>
            </a:r>
          </a:p>
          <a:p xmlns:a="http://schemas.openxmlformats.org/drawingml/2006/main">
            <a:pPr algn="ctr">
              <a:defRPr sz="1950" b="0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755E"/>
                </a:solidFill>
                <a:latin typeface="Arial"/>
                <a:ea typeface="Arial"/>
                <a:cs typeface="Arial"/>
              </a:rPr>
              <a:t>A=70 B=70 pote=80</a:t>
            </a:r>
          </a:p>
        </p:txBody>
      </p:sp>
      <p:cxnSp>
        <p:nvCxnSpPr>
          <p:cNvPr id="16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714750" y="2119313"/>
            <a:ext cx="809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17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7667625" y="2119313"/>
            <a:ext cx="809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sp>
        <p:nvSpPr>
          <p:cNvPr id="7" name="A observa resistência&#10;e planeja check.&#10;B muda para indução.">
            <a:extLst xmlns:a="http://schemas.openxmlformats.org/drawingml/2006/main">
              <a:ext uri="{FF2B5EF4-FFF2-40B4-BE49-F238E27FC236}">
                <a16:creationId xmlns:a16="http://schemas.microsoft.com/office/drawing/2014/main" id="{463B1A95-1BED-45AB-8987-505368522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95625"/>
            <a:ext cx="3143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A observa resistência</a:t>
            </a:r>
          </a:p>
          <a:p xmlns:a="http://schemas.openxmlformats.org/drawingml/2006/main">
            <a:pPr algn="l">
              <a:defRPr sz="202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e planeja check.</a:t>
            </a:r>
          </a:p>
          <a:p xmlns:a="http://schemas.openxmlformats.org/drawingml/2006/main">
            <a:pPr algn="l">
              <a:defRPr sz="202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B muda para indução.</a:t>
            </a:r>
          </a:p>
        </p:txBody>
      </p:sp>
      <p:sp>
        <p:nvSpPr>
          <p:cNvPr id="8" name="A lê possível fraqueza.&#10;B aceita custo de&#10;oportunidade e induz.">
            <a:extLst xmlns:a="http://schemas.openxmlformats.org/drawingml/2006/main">
              <a:ext uri="{FF2B5EF4-FFF2-40B4-BE49-F238E27FC236}">
                <a16:creationId xmlns:a16="http://schemas.microsoft.com/office/drawing/2014/main" id="{8A993889-8D25-4C2D-B5D2-995E38144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95625"/>
            <a:ext cx="3143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A lê possível fraqueza.</a:t>
            </a:r>
          </a:p>
          <a:p xmlns:a="http://schemas.openxmlformats.org/drawingml/2006/main">
            <a:pPr algn="l">
              <a:defRPr sz="202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B aceita custo de</a:t>
            </a:r>
          </a:p>
          <a:p xmlns:a="http://schemas.openxmlformats.org/drawingml/2006/main">
            <a:pPr algn="l">
              <a:defRPr sz="202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oportunidade e induz.</a:t>
            </a:r>
          </a:p>
        </p:txBody>
      </p:sp>
      <p:sp>
        <p:nvSpPr>
          <p:cNvPr id="9" name="Revelação: B vence.&#10;A=70 B=150 pote=0.&#10;Leitura de A falhou.">
            <a:extLst xmlns:a="http://schemas.openxmlformats.org/drawingml/2006/main">
              <a:ext uri="{FF2B5EF4-FFF2-40B4-BE49-F238E27FC236}">
                <a16:creationId xmlns:a16="http://schemas.microsoft.com/office/drawing/2014/main" id="{CC62EDCA-17F8-4098-9F61-BF857A983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95625"/>
            <a:ext cx="31432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Revelação: B vence.</a:t>
            </a:r>
          </a:p>
          <a:p xmlns:a="http://schemas.openxmlformats.org/drawingml/2006/main">
            <a:pPr algn="l">
              <a:defRPr sz="202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A=70 B=150 pote=0.</a:t>
            </a:r>
          </a:p>
          <a:p xmlns:a="http://schemas.openxmlformats.org/drawingml/2006/main">
            <a:pPr algn="l">
              <a:defRPr sz="2025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Leitura de A falhou.</a:t>
            </a:r>
          </a:p>
        </p:txBody>
      </p:sp>
      <p:sp>
        <p:nvSpPr>
          <p:cNvPr id="10" name="Custo de B: perder oportunidade de aposta ou permitir melhora da ">
            <a:extLst xmlns:a="http://schemas.openxmlformats.org/drawingml/2006/main">
              <a:ext uri="{FF2B5EF4-FFF2-40B4-BE49-F238E27FC236}">
                <a16:creationId xmlns:a16="http://schemas.microsoft.com/office/drawing/2014/main" id="{FBA497D6-E0EC-4880-8799-0602378DE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625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Custo de B: perder oportunidade de aposta ou permitir melhora da mão adversária.</a:t>
            </a:r>
          </a:p>
        </p:txBody>
      </p:sp>
      <p:sp>
        <p:nvSpPr>
          <p:cNvPr id="11" name="Próxima interação, hipótese: rever blefes e confiança nos sinais.">
            <a:extLst xmlns:a="http://schemas.openxmlformats.org/drawingml/2006/main">
              <a:ext uri="{FF2B5EF4-FFF2-40B4-BE49-F238E27FC236}">
                <a16:creationId xmlns:a16="http://schemas.microsoft.com/office/drawing/2014/main" id="{34E39573-52C8-4F77-B46D-FCAAA445E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48627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86274"/>
                </a:solidFill>
                <a:latin typeface="Arial"/>
                <a:ea typeface="Arial"/>
                <a:cs typeface="Arial"/>
              </a:rPr>
              <a:t>Próxima interação, hipótese: rever blefes e confiança nos sinais.</a:t>
            </a:r>
          </a:p>
        </p:txBody>
      </p:sp>
    </p:spTree>
    <p:extLst>
      <p:ext uri="{BB962C8B-B14F-4D97-AF65-F5344CB8AC3E}">
        <p14:creationId xmlns:p14="http://schemas.microsoft.com/office/powerpoint/2010/main" val="103420067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uperfície de ataque">
            <a:extLst xmlns:a="http://schemas.openxmlformats.org/drawingml/2006/main">
              <a:ext uri="{FF2B5EF4-FFF2-40B4-BE49-F238E27FC236}">
                <a16:creationId xmlns:a16="http://schemas.microsoft.com/office/drawing/2014/main" id="{7E6BD7F6-AC82-40AA-92BB-EC51535B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3042"/>
                </a:solidFill>
                <a:latin typeface="Arial"/>
                <a:ea typeface="Arial"/>
                <a:cs typeface="Arial"/>
              </a:rPr>
              <a:t>Superfície de ataque</a:t>
            </a:r>
          </a:p>
        </p:txBody>
      </p:sp>
      <p:sp>
        <p:nvSpPr>
          <p:cNvPr id="2" name="Módulo adversarial">
            <a:extLst xmlns:a="http://schemas.openxmlformats.org/drawingml/2006/main">
              <a:ext uri="{FF2B5EF4-FFF2-40B4-BE49-F238E27FC236}">
                <a16:creationId xmlns:a16="http://schemas.microsoft.com/office/drawing/2014/main" id="{DBBFD6F1-A85F-440E-93C5-CB04583F7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14650"/>
            <a:ext cx="25241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Módulo adversarial</a:t>
            </a:r>
          </a:p>
        </p:txBody>
      </p:sp>
      <p:sp>
        <p:nvSpPr>
          <p:cNvPr id="3" name="T1: visão e histórico Campo privado sem filtro Falha de P1">
            <a:extLst xmlns:a="http://schemas.openxmlformats.org/drawingml/2006/main">
              <a:ext uri="{FF2B5EF4-FFF2-40B4-BE49-F238E27FC236}">
                <a16:creationId xmlns:a16="http://schemas.microsoft.com/office/drawing/2014/main" id="{D7A40B5E-FC38-4909-90E8-22EFB906E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476375"/>
            <a:ext cx="3429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T1: visão e histórico</a:t>
            </a:r>
          </a:p>
          <a:p xmlns:a="http://schemas.openxmlformats.org/drawingml/2006/main">
            <a:pPr algn="ctr">
              <a:defRPr sz="180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Campo privado sem filtro</a:t>
            </a:r>
          </a:p>
          <a:p xmlns:a="http://schemas.openxmlformats.org/drawingml/2006/main">
            <a:pPr algn="ctr">
              <a:defRPr sz="180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Falha de P1</a:t>
            </a:r>
          </a:p>
        </p:txBody>
      </p:sp>
      <p:sp>
        <p:nvSpPr>
          <p:cNvPr id="4" name="T2: entrada de ações Valor ou vez sem validação Falha de P2">
            <a:extLst xmlns:a="http://schemas.openxmlformats.org/drawingml/2006/main">
              <a:ext uri="{FF2B5EF4-FFF2-40B4-BE49-F238E27FC236}">
                <a16:creationId xmlns:a16="http://schemas.microsoft.com/office/drawing/2014/main" id="{681E2CB4-B71C-422B-91DA-EC758DE13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95625"/>
            <a:ext cx="3429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T2: entrada de ações</a:t>
            </a:r>
          </a:p>
          <a:p xmlns:a="http://schemas.openxmlformats.org/drawingml/2006/main">
            <a:pPr algn="ctr">
              <a:defRPr sz="180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Valor ou vez sem validação</a:t>
            </a:r>
          </a:p>
          <a:p xmlns:a="http://schemas.openxmlformats.org/drawingml/2006/main">
            <a:pPr algn="ctr">
              <a:defRPr sz="180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Falha de P2</a:t>
            </a:r>
          </a:p>
        </p:txBody>
      </p:sp>
      <p:sp>
        <p:nvSpPr>
          <p:cNvPr id="5" name="T3: executor Decisão sem limite Falha de P3">
            <a:extLst xmlns:a="http://schemas.openxmlformats.org/drawingml/2006/main">
              <a:ext uri="{FF2B5EF4-FFF2-40B4-BE49-F238E27FC236}">
                <a16:creationId xmlns:a16="http://schemas.microsoft.com/office/drawing/2014/main" id="{0BD2FDE6-C39A-4A85-A0C1-E330EB89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714875"/>
            <a:ext cx="3429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4304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T3: executor</a:t>
            </a:r>
          </a:p>
          <a:p xmlns:a="http://schemas.openxmlformats.org/drawingml/2006/main">
            <a:pPr algn="ctr">
              <a:defRPr sz="180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Decisão sem limite</a:t>
            </a:r>
          </a:p>
          <a:p xmlns:a="http://schemas.openxmlformats.org/drawingml/2006/main">
            <a:pPr algn="ctr">
              <a:defRPr sz="1800" b="0">
                <a:solidFill>
                  <a:srgbClr val="14304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43042"/>
                </a:solidFill>
                <a:latin typeface="Arial"/>
                <a:ea typeface="Arial"/>
                <a:cs typeface="Arial"/>
              </a:rPr>
              <a:t>Falha de P3</a:t>
            </a:r>
          </a:p>
        </p:txBody>
      </p:sp>
      <p:sp>
        <p:nvSpPr>
          <p:cNvPr id="6" name="Sigilo e justiça Risco 9">
            <a:extLst xmlns:a="http://schemas.openxmlformats.org/drawingml/2006/main">
              <a:ext uri="{FF2B5EF4-FFF2-40B4-BE49-F238E27FC236}">
                <a16:creationId xmlns:a16="http://schemas.microsoft.com/office/drawing/2014/main" id="{606ECDD0-B07B-4B88-9C13-F22FE7EA6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666875"/>
            <a:ext cx="26193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A7353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A7353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73532"/>
                </a:solidFill>
                <a:latin typeface="Arial"/>
                <a:ea typeface="Arial"/>
                <a:cs typeface="Arial"/>
              </a:rPr>
              <a:t>Sigilo e justiça</a:t>
            </a:r>
          </a:p>
          <a:p xmlns:a="http://schemas.openxmlformats.org/drawingml/2006/main">
            <a:pPr algn="ctr">
              <a:defRPr sz="1875" b="0">
                <a:solidFill>
                  <a:srgbClr val="A7353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73532"/>
                </a:solidFill>
                <a:latin typeface="Arial"/>
                <a:ea typeface="Arial"/>
                <a:cs typeface="Arial"/>
              </a:rPr>
              <a:t>Risco 9</a:t>
            </a:r>
          </a:p>
        </p:txBody>
      </p:sp>
      <p:sp>
        <p:nvSpPr>
          <p:cNvPr id="7" name="Integridade e fichas Risco 9">
            <a:extLst xmlns:a="http://schemas.openxmlformats.org/drawingml/2006/main">
              <a:ext uri="{FF2B5EF4-FFF2-40B4-BE49-F238E27FC236}">
                <a16:creationId xmlns:a16="http://schemas.microsoft.com/office/drawing/2014/main" id="{98F9EF88-78C5-4C11-AC3D-07A6FD5AD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286125"/>
            <a:ext cx="26193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A7353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A7353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73532"/>
                </a:solidFill>
                <a:latin typeface="Arial"/>
                <a:ea typeface="Arial"/>
                <a:cs typeface="Arial"/>
              </a:rPr>
              <a:t>Integridade e fichas</a:t>
            </a:r>
          </a:p>
          <a:p xmlns:a="http://schemas.openxmlformats.org/drawingml/2006/main">
            <a:pPr algn="ctr">
              <a:defRPr sz="1875" b="0">
                <a:solidFill>
                  <a:srgbClr val="A7353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73532"/>
                </a:solidFill>
                <a:latin typeface="Arial"/>
                <a:ea typeface="Arial"/>
                <a:cs typeface="Arial"/>
              </a:rPr>
              <a:t>Risco 9</a:t>
            </a:r>
          </a:p>
        </p:txBody>
      </p:sp>
      <p:sp>
        <p:nvSpPr>
          <p:cNvPr id="8" name="Progresso Risco 6">
            <a:extLst xmlns:a="http://schemas.openxmlformats.org/drawingml/2006/main">
              <a:ext uri="{FF2B5EF4-FFF2-40B4-BE49-F238E27FC236}">
                <a16:creationId xmlns:a16="http://schemas.microsoft.com/office/drawing/2014/main" id="{8E01768F-8A81-41B3-9E5B-A94A194A9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905375"/>
            <a:ext cx="26193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A73532"/>
            </a:solidFill>
          </a:ln>
        </p:spPr>
        <p:txBody>
          <a:bodyPr xmlns:a="http://schemas.openxmlformats.org/drawingml/2006/main" wrap="square" lIns="95250" tIns="85725" rIns="95250" bIns="857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A7353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73532"/>
                </a:solidFill>
                <a:latin typeface="Arial"/>
                <a:ea typeface="Arial"/>
                <a:cs typeface="Arial"/>
              </a:rPr>
              <a:t>Progresso</a:t>
            </a:r>
          </a:p>
          <a:p xmlns:a="http://schemas.openxmlformats.org/drawingml/2006/main">
            <a:pPr algn="ctr">
              <a:defRPr sz="1875" b="0">
                <a:solidFill>
                  <a:srgbClr val="A7353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73532"/>
                </a:solidFill>
                <a:latin typeface="Arial"/>
                <a:ea typeface="Arial"/>
                <a:cs typeface="Arial"/>
              </a:rPr>
              <a:t>Risco 6</a:t>
            </a:r>
          </a:p>
        </p:txBody>
      </p:sp>
      <p:cxnSp>
        <p:nvCxnSpPr>
          <p:cNvPr id="26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 flipV="1">
            <a:off x="3095625" y="2000250"/>
            <a:ext cx="1285875" cy="14382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27" name=""/>
          <p:cNvCxnSpPr>
            <a:stCxn xmlns:a="http://schemas.openxmlformats.org/drawingml/2006/main" id="2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095625" y="3438525"/>
            <a:ext cx="1285875" cy="1809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28" name=""/>
          <p:cNvCxnSpPr>
            <a:stCxn xmlns:a="http://schemas.openxmlformats.org/drawingml/2006/main" id="2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095625" y="3438525"/>
            <a:ext cx="1285875" cy="18002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29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810500" y="2000250"/>
            <a:ext cx="1000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30" name=""/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810500" y="3619500"/>
            <a:ext cx="1000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cxnSp>
        <p:nvCxnSpPr>
          <p:cNvPr id="31" name=""/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810500" y="5238750"/>
            <a:ext cx="1000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86274"/>
            </a:solidFill>
            <a:prstDash val="solid"/>
            <a:tailEnd type="triangle" w="sm" len="sm"/>
          </a:ln>
        </p:spPr>
      </p:cxnSp>
      <p:sp>
        <p:nvSpPr>
          <p:cNvPr id="15" name="C1: filtrar saídas">
            <a:extLst xmlns:a="http://schemas.openxmlformats.org/drawingml/2006/main">
              <a:ext uri="{FF2B5EF4-FFF2-40B4-BE49-F238E27FC236}">
                <a16:creationId xmlns:a16="http://schemas.microsoft.com/office/drawing/2014/main" id="{FA75D062-7D45-4F42-B1C4-AE9EDE0AD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003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C1: filtrar saídas</a:t>
            </a:r>
          </a:p>
        </p:txBody>
      </p:sp>
      <p:sp>
        <p:nvSpPr>
          <p:cNvPr id="16" name="C2/C3: validar, aplicar uma vez">
            <a:extLst xmlns:a="http://schemas.openxmlformats.org/drawingml/2006/main">
              <a:ext uri="{FF2B5EF4-FFF2-40B4-BE49-F238E27FC236}">
                <a16:creationId xmlns:a16="http://schemas.microsoft.com/office/drawing/2014/main" id="{D06CBA58-2E8C-48F7-B7C7-F0EFDA54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48125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C2/C3: validar, aplicar uma vez</a:t>
            </a:r>
          </a:p>
        </p:txBody>
      </p:sp>
      <p:sp>
        <p:nvSpPr>
          <p:cNvPr id="17" name="C4: orçamento e ação padrão">
            <a:extLst xmlns:a="http://schemas.openxmlformats.org/drawingml/2006/main">
              <a:ext uri="{FF2B5EF4-FFF2-40B4-BE49-F238E27FC236}">
                <a16:creationId xmlns:a16="http://schemas.microsoft.com/office/drawing/2014/main" id="{948704F2-217F-46B1-ACB2-40034CD78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66737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755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755E"/>
                </a:solidFill>
                <a:latin typeface="Arial"/>
                <a:ea typeface="Arial"/>
                <a:cs typeface="Arial"/>
              </a:rPr>
              <a:t>C4: orçamento e ação padrão</a:t>
            </a:r>
          </a:p>
        </p:txBody>
      </p:sp>
    </p:spTree>
    <p:extLst>
      <p:ext uri="{BB962C8B-B14F-4D97-AF65-F5344CB8AC3E}">
        <p14:creationId xmlns:p14="http://schemas.microsoft.com/office/powerpoint/2010/main" val="4789425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2026-10-05T16:53:13.0620000Z</dcterms:created>
  <dcterms:modified xsi:type="dcterms:W3CDTF">2026-10-05T16:53:13.0620000Z</dcterms:modified>
</coreProperties>
</file>